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ial" charset="1" panose="020B0604020202020204"/>
      <p:regular r:id="rId19"/>
    </p:embeddedFont>
    <p:embeddedFont>
      <p:font typeface="Arial Bold" charset="1" panose="020B0704020202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61925" y="2906702"/>
            <a:ext cx="16478286" cy="1719172"/>
            <a:chOff x="0" y="0"/>
            <a:chExt cx="21971049" cy="2292229"/>
          </a:xfrm>
        </p:grpSpPr>
        <p:sp>
          <p:nvSpPr>
            <p:cNvPr name="Freeform 3" id="3"/>
            <p:cNvSpPr/>
            <p:nvPr/>
          </p:nvSpPr>
          <p:spPr>
            <a:xfrm flipH="false" flipV="false" rot="0">
              <a:off x="0" y="0"/>
              <a:ext cx="21971048" cy="2292229"/>
            </a:xfrm>
            <a:custGeom>
              <a:avLst/>
              <a:gdLst/>
              <a:ahLst/>
              <a:cxnLst/>
              <a:rect r="r" b="b" t="t" l="l"/>
              <a:pathLst>
                <a:path h="2292229" w="21971048">
                  <a:moveTo>
                    <a:pt x="0" y="0"/>
                  </a:moveTo>
                  <a:lnTo>
                    <a:pt x="21971048" y="0"/>
                  </a:lnTo>
                  <a:lnTo>
                    <a:pt x="21971048" y="2292229"/>
                  </a:lnTo>
                  <a:lnTo>
                    <a:pt x="0" y="2292229"/>
                  </a:lnTo>
                  <a:close/>
                </a:path>
              </a:pathLst>
            </a:custGeom>
            <a:solidFill>
              <a:srgbClr val="000000">
                <a:alpha val="0"/>
              </a:srgbClr>
            </a:solidFill>
          </p:spPr>
        </p:sp>
        <p:sp>
          <p:nvSpPr>
            <p:cNvPr name="TextBox 4" id="4"/>
            <p:cNvSpPr txBox="true"/>
            <p:nvPr/>
          </p:nvSpPr>
          <p:spPr>
            <a:xfrm>
              <a:off x="0" y="-28575"/>
              <a:ext cx="21971049" cy="2320804"/>
            </a:xfrm>
            <a:prstGeom prst="rect">
              <a:avLst/>
            </a:prstGeom>
          </p:spPr>
          <p:txBody>
            <a:bodyPr anchor="ctr" rtlCol="false" tIns="0" lIns="0" bIns="0" rIns="0"/>
            <a:lstStyle/>
            <a:p>
              <a:pPr algn="ctr">
                <a:lnSpc>
                  <a:spcPts val="9590"/>
                </a:lnSpc>
              </a:pPr>
              <a:r>
                <a:rPr lang="en-US" sz="7992" spc="-1">
                  <a:solidFill>
                    <a:srgbClr val="000000"/>
                  </a:solidFill>
                  <a:latin typeface="Arial"/>
                  <a:ea typeface="Arial"/>
                  <a:cs typeface="Arial"/>
                  <a:sym typeface="Arial"/>
                </a:rPr>
                <a:t>Data and Concept Drift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5497" y="410666"/>
            <a:ext cx="16478286" cy="1719172"/>
            <a:chOff x="0" y="0"/>
            <a:chExt cx="21971049" cy="2292229"/>
          </a:xfrm>
        </p:grpSpPr>
        <p:sp>
          <p:nvSpPr>
            <p:cNvPr name="Freeform 3" id="3"/>
            <p:cNvSpPr/>
            <p:nvPr/>
          </p:nvSpPr>
          <p:spPr>
            <a:xfrm flipH="false" flipV="false" rot="0">
              <a:off x="0" y="0"/>
              <a:ext cx="21971048" cy="2292229"/>
            </a:xfrm>
            <a:custGeom>
              <a:avLst/>
              <a:gdLst/>
              <a:ahLst/>
              <a:cxnLst/>
              <a:rect r="r" b="b" t="t" l="l"/>
              <a:pathLst>
                <a:path h="2292229" w="21971048">
                  <a:moveTo>
                    <a:pt x="0" y="0"/>
                  </a:moveTo>
                  <a:lnTo>
                    <a:pt x="21971048" y="0"/>
                  </a:lnTo>
                  <a:lnTo>
                    <a:pt x="21971048" y="2292229"/>
                  </a:lnTo>
                  <a:lnTo>
                    <a:pt x="0" y="2292229"/>
                  </a:lnTo>
                  <a:close/>
                </a:path>
              </a:pathLst>
            </a:custGeom>
            <a:solidFill>
              <a:srgbClr val="000000">
                <a:alpha val="0"/>
              </a:srgbClr>
            </a:solidFill>
          </p:spPr>
        </p:sp>
        <p:sp>
          <p:nvSpPr>
            <p:cNvPr name="TextBox 4" id="4"/>
            <p:cNvSpPr txBox="true"/>
            <p:nvPr/>
          </p:nvSpPr>
          <p:spPr>
            <a:xfrm>
              <a:off x="0" y="-28575"/>
              <a:ext cx="21971049" cy="2320804"/>
            </a:xfrm>
            <a:prstGeom prst="rect">
              <a:avLst/>
            </a:prstGeom>
          </p:spPr>
          <p:txBody>
            <a:bodyPr anchor="ctr" rtlCol="false" tIns="0" lIns="0" bIns="0" rIns="0"/>
            <a:lstStyle/>
            <a:p>
              <a:pPr algn="ctr" marL="1947768" indent="-973884" lvl="1">
                <a:lnSpc>
                  <a:spcPts val="9590"/>
                </a:lnSpc>
                <a:buFont typeface="Arial"/>
                <a:buChar char="•"/>
              </a:pPr>
              <a:r>
                <a:rPr lang="en-US" sz="7992" spc="-1">
                  <a:solidFill>
                    <a:srgbClr val="000000"/>
                  </a:solidFill>
                  <a:latin typeface="Arial"/>
                  <a:ea typeface="Arial"/>
                  <a:cs typeface="Arial"/>
                  <a:sym typeface="Arial"/>
                </a:rPr>
                <a:t>What can go wrong?</a:t>
              </a:r>
            </a:p>
          </p:txBody>
        </p:sp>
      </p:grpSp>
      <p:sp>
        <p:nvSpPr>
          <p:cNvPr name="TextBox 5" id="5"/>
          <p:cNvSpPr txBox="true"/>
          <p:nvPr/>
        </p:nvSpPr>
        <p:spPr>
          <a:xfrm rot="0">
            <a:off x="830486" y="3558580"/>
            <a:ext cx="8588667" cy="5992012"/>
          </a:xfrm>
          <a:prstGeom prst="rect">
            <a:avLst/>
          </a:prstGeom>
        </p:spPr>
        <p:txBody>
          <a:bodyPr anchor="t" rtlCol="false" tIns="0" lIns="0" bIns="0" rIns="0">
            <a:spAutoFit/>
          </a:bodyPr>
          <a:lstStyle/>
          <a:p>
            <a:pPr algn="just" marL="673884" indent="-336942" lvl="1">
              <a:lnSpc>
                <a:spcPts val="2615"/>
              </a:lnSpc>
              <a:buFont typeface="Arial"/>
              <a:buChar char="•"/>
            </a:pPr>
            <a:r>
              <a:rPr lang="en-US" sz="2179" spc="-1">
                <a:solidFill>
                  <a:srgbClr val="000000"/>
                </a:solidFill>
                <a:latin typeface="Arial"/>
                <a:ea typeface="Arial"/>
                <a:cs typeface="Arial"/>
                <a:sym typeface="Arial"/>
              </a:rPr>
              <a:t>Machine learning models often deal with corrupted, late, or incomplete data. Data quality issues account for a major share of failures in production.</a:t>
            </a:r>
          </a:p>
          <a:p>
            <a:pPr algn="just" marL="673884" indent="-336942" lvl="1">
              <a:lnSpc>
                <a:spcPts val="2615"/>
              </a:lnSpc>
              <a:buFont typeface="Arial"/>
              <a:buChar char="•"/>
            </a:pPr>
            <a:r>
              <a:rPr lang="en-US" sz="2179" spc="-1">
                <a:solidFill>
                  <a:srgbClr val="000000"/>
                </a:solidFill>
                <a:latin typeface="Arial"/>
                <a:ea typeface="Arial"/>
                <a:cs typeface="Arial"/>
                <a:sym typeface="Arial"/>
              </a:rPr>
              <a:t>But let’s say it is covered. The data engineering team does a great job, data owners and producers do no harm, and no system breaks. Does this mean our model is safe?</a:t>
            </a:r>
          </a:p>
          <a:p>
            <a:pPr algn="just" marL="673884" indent="-336942" lvl="1">
              <a:lnSpc>
                <a:spcPts val="2615"/>
              </a:lnSpc>
              <a:buFont typeface="Arial"/>
              <a:buChar char="•"/>
            </a:pPr>
            <a:r>
              <a:rPr lang="en-US" sz="2179" spc="-1">
                <a:solidFill>
                  <a:srgbClr val="000000"/>
                </a:solidFill>
                <a:latin typeface="Arial"/>
                <a:ea typeface="Arial"/>
                <a:cs typeface="Arial"/>
                <a:sym typeface="Arial"/>
              </a:rPr>
              <a:t>Simple No. While the data can be right, the model itself can start degrading.</a:t>
            </a:r>
          </a:p>
        </p:txBody>
      </p:sp>
      <p:grpSp>
        <p:nvGrpSpPr>
          <p:cNvPr name="Group 6" id="6"/>
          <p:cNvGrpSpPr>
            <a:grpSpLocks noChangeAspect="true"/>
          </p:cNvGrpSpPr>
          <p:nvPr/>
        </p:nvGrpSpPr>
        <p:grpSpPr>
          <a:xfrm rot="0">
            <a:off x="9419153" y="3577630"/>
            <a:ext cx="8625941" cy="3818929"/>
            <a:chOff x="0" y="0"/>
            <a:chExt cx="11501254" cy="5091905"/>
          </a:xfrm>
        </p:grpSpPr>
        <p:sp>
          <p:nvSpPr>
            <p:cNvPr name="Freeform 7" id="7"/>
            <p:cNvSpPr/>
            <p:nvPr/>
          </p:nvSpPr>
          <p:spPr>
            <a:xfrm flipH="false" flipV="false" rot="0">
              <a:off x="0" y="0"/>
              <a:ext cx="11501247" cy="5091938"/>
            </a:xfrm>
            <a:custGeom>
              <a:avLst/>
              <a:gdLst/>
              <a:ahLst/>
              <a:cxnLst/>
              <a:rect r="r" b="b" t="t" l="l"/>
              <a:pathLst>
                <a:path h="5091938" w="11501247">
                  <a:moveTo>
                    <a:pt x="0" y="0"/>
                  </a:moveTo>
                  <a:lnTo>
                    <a:pt x="11501247" y="0"/>
                  </a:lnTo>
                  <a:lnTo>
                    <a:pt x="11501247" y="5091938"/>
                  </a:lnTo>
                  <a:lnTo>
                    <a:pt x="0" y="5091938"/>
                  </a:lnTo>
                  <a:lnTo>
                    <a:pt x="0" y="0"/>
                  </a:lnTo>
                  <a:close/>
                </a:path>
              </a:pathLst>
            </a:custGeom>
            <a:blipFill>
              <a:blip r:embed="rId2"/>
              <a:stretch>
                <a:fillRect l="0" t="-1" r="0" b="-1"/>
              </a:stretch>
            </a:blipFill>
          </p:spPr>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5497" y="410666"/>
            <a:ext cx="16478286" cy="1719172"/>
            <a:chOff x="0" y="0"/>
            <a:chExt cx="21971049" cy="2292229"/>
          </a:xfrm>
        </p:grpSpPr>
        <p:sp>
          <p:nvSpPr>
            <p:cNvPr name="Freeform 3" id="3"/>
            <p:cNvSpPr/>
            <p:nvPr/>
          </p:nvSpPr>
          <p:spPr>
            <a:xfrm flipH="false" flipV="false" rot="0">
              <a:off x="0" y="0"/>
              <a:ext cx="21971048" cy="2292229"/>
            </a:xfrm>
            <a:custGeom>
              <a:avLst/>
              <a:gdLst/>
              <a:ahLst/>
              <a:cxnLst/>
              <a:rect r="r" b="b" t="t" l="l"/>
              <a:pathLst>
                <a:path h="2292229" w="21971048">
                  <a:moveTo>
                    <a:pt x="0" y="0"/>
                  </a:moveTo>
                  <a:lnTo>
                    <a:pt x="21971048" y="0"/>
                  </a:lnTo>
                  <a:lnTo>
                    <a:pt x="21971048" y="2292229"/>
                  </a:lnTo>
                  <a:lnTo>
                    <a:pt x="0" y="2292229"/>
                  </a:lnTo>
                  <a:close/>
                </a:path>
              </a:pathLst>
            </a:custGeom>
            <a:solidFill>
              <a:srgbClr val="000000">
                <a:alpha val="0"/>
              </a:srgbClr>
            </a:solidFill>
          </p:spPr>
        </p:sp>
        <p:sp>
          <p:nvSpPr>
            <p:cNvPr name="TextBox 4" id="4"/>
            <p:cNvSpPr txBox="true"/>
            <p:nvPr/>
          </p:nvSpPr>
          <p:spPr>
            <a:xfrm>
              <a:off x="0" y="-28575"/>
              <a:ext cx="21971049" cy="2320804"/>
            </a:xfrm>
            <a:prstGeom prst="rect">
              <a:avLst/>
            </a:prstGeom>
          </p:spPr>
          <p:txBody>
            <a:bodyPr anchor="ctr" rtlCol="false" tIns="0" lIns="0" bIns="0" rIns="0"/>
            <a:lstStyle/>
            <a:p>
              <a:pPr algn="ctr">
                <a:lnSpc>
                  <a:spcPts val="9590"/>
                </a:lnSpc>
              </a:pPr>
              <a:r>
                <a:rPr lang="en-US" sz="7992" spc="-1">
                  <a:solidFill>
                    <a:srgbClr val="000000"/>
                  </a:solidFill>
                  <a:latin typeface="Arial"/>
                  <a:ea typeface="Arial"/>
                  <a:cs typeface="Arial"/>
                  <a:sym typeface="Arial"/>
                </a:rPr>
                <a:t>Model decay</a:t>
              </a:r>
            </a:p>
          </p:txBody>
        </p:sp>
      </p:grpSp>
      <p:sp>
        <p:nvSpPr>
          <p:cNvPr name="TextBox 5" id="5"/>
          <p:cNvSpPr txBox="true"/>
          <p:nvPr/>
        </p:nvSpPr>
        <p:spPr>
          <a:xfrm rot="0">
            <a:off x="1245729" y="2805911"/>
            <a:ext cx="10796322" cy="2933700"/>
          </a:xfrm>
          <a:prstGeom prst="rect">
            <a:avLst/>
          </a:prstGeom>
        </p:spPr>
        <p:txBody>
          <a:bodyPr anchor="t" rtlCol="false" tIns="0" lIns="0" bIns="0" rIns="0">
            <a:spAutoFit/>
          </a:bodyPr>
          <a:lstStyle/>
          <a:p>
            <a:pPr algn="just" marL="673884" indent="-336942" lvl="1">
              <a:lnSpc>
                <a:spcPts val="2615"/>
              </a:lnSpc>
              <a:buFont typeface="Arial"/>
              <a:buChar char="•"/>
            </a:pPr>
            <a:r>
              <a:rPr lang="en-US" sz="2179" spc="-1">
                <a:solidFill>
                  <a:srgbClr val="000000"/>
                </a:solidFill>
                <a:latin typeface="Arial"/>
                <a:ea typeface="Arial"/>
                <a:cs typeface="Arial"/>
                <a:sym typeface="Arial"/>
              </a:rPr>
              <a:t>Things change, and model performance degrades over time. The ultimate measure is the model quality metric. It can be accuracy, mean error rate, or some downstream business KPI.</a:t>
            </a:r>
          </a:p>
          <a:p>
            <a:pPr algn="just" marL="673884" indent="-336942" lvl="1">
              <a:lnSpc>
                <a:spcPts val="2615"/>
              </a:lnSpc>
              <a:buFont typeface="Arial"/>
              <a:buChar char="•"/>
            </a:pPr>
            <a:r>
              <a:rPr lang="en-US" sz="2179" spc="-1">
                <a:solidFill>
                  <a:srgbClr val="FF0000"/>
                </a:solidFill>
                <a:latin typeface="Arial"/>
                <a:ea typeface="Arial"/>
                <a:cs typeface="Arial"/>
                <a:sym typeface="Arial"/>
              </a:rPr>
              <a:t>No model lives forever, but the speed of decay varies.</a:t>
            </a:r>
          </a:p>
          <a:p>
            <a:pPr algn="just" marL="673884" indent="-336942" lvl="1">
              <a:lnSpc>
                <a:spcPts val="2615"/>
              </a:lnSpc>
              <a:buFont typeface="Arial"/>
              <a:buChar char="•"/>
            </a:pPr>
            <a:r>
              <a:rPr lang="en-US" sz="2179" spc="-1">
                <a:solidFill>
                  <a:srgbClr val="000000"/>
                </a:solidFill>
                <a:latin typeface="Arial"/>
                <a:ea typeface="Arial"/>
                <a:cs typeface="Arial"/>
                <a:sym typeface="Arial"/>
              </a:rPr>
              <a:t>Some models can last years without an update. </a:t>
            </a:r>
          </a:p>
          <a:p>
            <a:pPr algn="just" marL="673884" indent="-336942" lvl="1">
              <a:lnSpc>
                <a:spcPts val="2615"/>
              </a:lnSpc>
              <a:buFont typeface="Arial"/>
              <a:buChar char="•"/>
            </a:pPr>
            <a:r>
              <a:rPr lang="en-US" sz="2179" spc="-1">
                <a:solidFill>
                  <a:srgbClr val="000000"/>
                </a:solidFill>
                <a:latin typeface="Arial"/>
                <a:ea typeface="Arial"/>
                <a:cs typeface="Arial"/>
                <a:sym typeface="Arial"/>
              </a:rPr>
              <a:t>For example, certain computer vision or language models. Or any decision system in an isolated, stable environment.</a:t>
            </a:r>
          </a:p>
          <a:p>
            <a:pPr algn="just" marL="673884" indent="-336942" lvl="1">
              <a:lnSpc>
                <a:spcPts val="2615"/>
              </a:lnSpc>
              <a:buFont typeface="Arial"/>
              <a:buChar char="•"/>
            </a:pPr>
            <a:r>
              <a:rPr lang="en-US" sz="2179" spc="-1">
                <a:solidFill>
                  <a:srgbClr val="000000"/>
                </a:solidFill>
                <a:latin typeface="Arial"/>
                <a:ea typeface="Arial"/>
                <a:cs typeface="Arial"/>
                <a:sym typeface="Arial"/>
              </a:rPr>
              <a:t>Others might need daily retraining on the fresh data.</a:t>
            </a:r>
          </a:p>
          <a:p>
            <a:pPr algn="just" marL="673884" indent="-336942" lvl="1">
              <a:lnSpc>
                <a:spcPts val="2615"/>
              </a:lnSpc>
            </a:pPr>
          </a:p>
        </p:txBody>
      </p:sp>
      <p:grpSp>
        <p:nvGrpSpPr>
          <p:cNvPr name="Group 6" id="6"/>
          <p:cNvGrpSpPr>
            <a:grpSpLocks noChangeAspect="true"/>
          </p:cNvGrpSpPr>
          <p:nvPr/>
        </p:nvGrpSpPr>
        <p:grpSpPr>
          <a:xfrm rot="0">
            <a:off x="3549834" y="5749406"/>
            <a:ext cx="8062910" cy="4537594"/>
            <a:chOff x="0" y="0"/>
            <a:chExt cx="10750547" cy="6050125"/>
          </a:xfrm>
        </p:grpSpPr>
        <p:sp>
          <p:nvSpPr>
            <p:cNvPr name="Freeform 7" id="7"/>
            <p:cNvSpPr/>
            <p:nvPr/>
          </p:nvSpPr>
          <p:spPr>
            <a:xfrm flipH="false" flipV="false" rot="0">
              <a:off x="0" y="0"/>
              <a:ext cx="10750550" cy="6050153"/>
            </a:xfrm>
            <a:custGeom>
              <a:avLst/>
              <a:gdLst/>
              <a:ahLst/>
              <a:cxnLst/>
              <a:rect r="r" b="b" t="t" l="l"/>
              <a:pathLst>
                <a:path h="6050153" w="10750550">
                  <a:moveTo>
                    <a:pt x="0" y="0"/>
                  </a:moveTo>
                  <a:lnTo>
                    <a:pt x="10750550" y="0"/>
                  </a:lnTo>
                  <a:lnTo>
                    <a:pt x="10750550" y="6050153"/>
                  </a:lnTo>
                  <a:lnTo>
                    <a:pt x="0" y="6050153"/>
                  </a:lnTo>
                  <a:lnTo>
                    <a:pt x="0" y="0"/>
                  </a:lnTo>
                  <a:close/>
                </a:path>
              </a:pathLst>
            </a:custGeom>
            <a:blipFill>
              <a:blip r:embed="rId2"/>
              <a:stretch>
                <a:fillRect l="-4" t="0" r="-4" b="0"/>
              </a:stretch>
            </a:blipFill>
          </p:spPr>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5497" y="410666"/>
            <a:ext cx="16478286" cy="1719172"/>
            <a:chOff x="0" y="0"/>
            <a:chExt cx="21971049" cy="2292229"/>
          </a:xfrm>
        </p:grpSpPr>
        <p:sp>
          <p:nvSpPr>
            <p:cNvPr name="Freeform 3" id="3"/>
            <p:cNvSpPr/>
            <p:nvPr/>
          </p:nvSpPr>
          <p:spPr>
            <a:xfrm flipH="false" flipV="false" rot="0">
              <a:off x="0" y="0"/>
              <a:ext cx="21971048" cy="2292229"/>
            </a:xfrm>
            <a:custGeom>
              <a:avLst/>
              <a:gdLst/>
              <a:ahLst/>
              <a:cxnLst/>
              <a:rect r="r" b="b" t="t" l="l"/>
              <a:pathLst>
                <a:path h="2292229" w="21971048">
                  <a:moveTo>
                    <a:pt x="0" y="0"/>
                  </a:moveTo>
                  <a:lnTo>
                    <a:pt x="21971048" y="0"/>
                  </a:lnTo>
                  <a:lnTo>
                    <a:pt x="21971048" y="2292229"/>
                  </a:lnTo>
                  <a:lnTo>
                    <a:pt x="0" y="2292229"/>
                  </a:lnTo>
                  <a:close/>
                </a:path>
              </a:pathLst>
            </a:custGeom>
            <a:solidFill>
              <a:srgbClr val="000000">
                <a:alpha val="0"/>
              </a:srgbClr>
            </a:solidFill>
          </p:spPr>
        </p:sp>
        <p:sp>
          <p:nvSpPr>
            <p:cNvPr name="TextBox 4" id="4"/>
            <p:cNvSpPr txBox="true"/>
            <p:nvPr/>
          </p:nvSpPr>
          <p:spPr>
            <a:xfrm>
              <a:off x="0" y="-28575"/>
              <a:ext cx="21971049" cy="2320804"/>
            </a:xfrm>
            <a:prstGeom prst="rect">
              <a:avLst/>
            </a:prstGeom>
          </p:spPr>
          <p:txBody>
            <a:bodyPr anchor="ctr" rtlCol="false" tIns="0" lIns="0" bIns="0" rIns="0"/>
            <a:lstStyle/>
            <a:p>
              <a:pPr algn="ctr">
                <a:lnSpc>
                  <a:spcPts val="9590"/>
                </a:lnSpc>
              </a:pPr>
              <a:r>
                <a:rPr lang="en-US" sz="7992" spc="-1">
                  <a:solidFill>
                    <a:srgbClr val="000000"/>
                  </a:solidFill>
                  <a:latin typeface="Arial"/>
                  <a:ea typeface="Arial"/>
                  <a:cs typeface="Arial"/>
                  <a:sym typeface="Arial"/>
                </a:rPr>
                <a:t>Why Model drifts?</a:t>
              </a:r>
            </a:p>
          </p:txBody>
        </p:sp>
      </p:grpSp>
      <p:sp>
        <p:nvSpPr>
          <p:cNvPr name="TextBox 5" id="5"/>
          <p:cNvSpPr txBox="true"/>
          <p:nvPr/>
        </p:nvSpPr>
        <p:spPr>
          <a:xfrm rot="0">
            <a:off x="915497" y="2390668"/>
            <a:ext cx="16478286" cy="5992012"/>
          </a:xfrm>
          <a:prstGeom prst="rect">
            <a:avLst/>
          </a:prstGeom>
        </p:spPr>
        <p:txBody>
          <a:bodyPr anchor="t" rtlCol="false" tIns="0" lIns="0" bIns="0" rIns="0">
            <a:spAutoFit/>
          </a:bodyPr>
          <a:lstStyle/>
          <a:p>
            <a:pPr algn="l">
              <a:lnSpc>
                <a:spcPts val="2615"/>
              </a:lnSpc>
            </a:pPr>
          </a:p>
          <a:p>
            <a:pPr algn="l" marL="673884" indent="-336942" lvl="1">
              <a:lnSpc>
                <a:spcPts val="2615"/>
              </a:lnSpc>
              <a:buFont typeface="Arial"/>
              <a:buChar char="•"/>
            </a:pPr>
            <a:r>
              <a:rPr lang="en-US" sz="2179" spc="-1">
                <a:solidFill>
                  <a:srgbClr val="000000"/>
                </a:solidFill>
                <a:latin typeface="Arial"/>
                <a:ea typeface="Arial"/>
                <a:cs typeface="Arial"/>
                <a:sym typeface="Arial"/>
              </a:rPr>
              <a:t>When data quality is fine, there are two usual suspects: </a:t>
            </a:r>
          </a:p>
          <a:p>
            <a:pPr algn="l" marL="673884" indent="-336942" lvl="1">
              <a:lnSpc>
                <a:spcPts val="2615"/>
              </a:lnSpc>
              <a:buFont typeface="Arial"/>
              <a:buChar char="•"/>
            </a:pPr>
            <a:r>
              <a:rPr lang="en-US" sz="2179" spc="-1">
                <a:solidFill>
                  <a:srgbClr val="000000"/>
                </a:solidFill>
                <a:latin typeface="Arial"/>
                <a:ea typeface="Arial"/>
                <a:cs typeface="Arial"/>
                <a:sym typeface="Arial"/>
              </a:rPr>
              <a:t>data drift</a:t>
            </a:r>
          </a:p>
          <a:p>
            <a:pPr algn="l" marL="673884" indent="-336942" lvl="1">
              <a:lnSpc>
                <a:spcPts val="2615"/>
              </a:lnSpc>
              <a:buFont typeface="Arial"/>
              <a:buChar char="•"/>
            </a:pPr>
            <a:r>
              <a:rPr lang="en-US" sz="2179" spc="-1">
                <a:solidFill>
                  <a:srgbClr val="000000"/>
                </a:solidFill>
                <a:latin typeface="Arial"/>
                <a:ea typeface="Arial"/>
                <a:cs typeface="Arial"/>
                <a:sym typeface="Arial"/>
              </a:rPr>
              <a:t>concept drift </a:t>
            </a:r>
          </a:p>
          <a:p>
            <a:pPr algn="l" marL="673884" indent="-336942" lvl="1">
              <a:lnSpc>
                <a:spcPts val="2615"/>
              </a:lnSpc>
              <a:buFont typeface="Arial"/>
              <a:buChar char="•"/>
            </a:pPr>
            <a:r>
              <a:rPr lang="en-US" sz="2179" spc="-1">
                <a:solidFill>
                  <a:srgbClr val="000000"/>
                </a:solidFill>
                <a:latin typeface="Arial"/>
                <a:ea typeface="Arial"/>
                <a:cs typeface="Arial"/>
                <a:sym typeface="Arial"/>
              </a:rPr>
              <a:t>Or both at the same time.</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5497" y="134709"/>
            <a:ext cx="16478286" cy="2271086"/>
            <a:chOff x="0" y="0"/>
            <a:chExt cx="21971049" cy="3028114"/>
          </a:xfrm>
        </p:grpSpPr>
        <p:sp>
          <p:nvSpPr>
            <p:cNvPr name="Freeform 3" id="3"/>
            <p:cNvSpPr/>
            <p:nvPr/>
          </p:nvSpPr>
          <p:spPr>
            <a:xfrm flipH="false" flipV="false" rot="0">
              <a:off x="0" y="0"/>
              <a:ext cx="21971048" cy="3028114"/>
            </a:xfrm>
            <a:custGeom>
              <a:avLst/>
              <a:gdLst/>
              <a:ahLst/>
              <a:cxnLst/>
              <a:rect r="r" b="b" t="t" l="l"/>
              <a:pathLst>
                <a:path h="3028114" w="21971048">
                  <a:moveTo>
                    <a:pt x="0" y="0"/>
                  </a:moveTo>
                  <a:lnTo>
                    <a:pt x="21971048" y="0"/>
                  </a:lnTo>
                  <a:lnTo>
                    <a:pt x="21971048" y="3028114"/>
                  </a:lnTo>
                  <a:lnTo>
                    <a:pt x="0" y="3028114"/>
                  </a:lnTo>
                  <a:close/>
                </a:path>
              </a:pathLst>
            </a:custGeom>
            <a:solidFill>
              <a:srgbClr val="000000">
                <a:alpha val="0"/>
              </a:srgbClr>
            </a:solidFill>
          </p:spPr>
        </p:sp>
        <p:sp>
          <p:nvSpPr>
            <p:cNvPr name="TextBox 4" id="4"/>
            <p:cNvSpPr txBox="true"/>
            <p:nvPr/>
          </p:nvSpPr>
          <p:spPr>
            <a:xfrm>
              <a:off x="0" y="-28575"/>
              <a:ext cx="21971049" cy="3056689"/>
            </a:xfrm>
            <a:prstGeom prst="rect">
              <a:avLst/>
            </a:prstGeom>
          </p:spPr>
          <p:txBody>
            <a:bodyPr anchor="ctr" rtlCol="false" tIns="0" lIns="0" bIns="0" rIns="0"/>
            <a:lstStyle/>
            <a:p>
              <a:pPr algn="ctr">
                <a:lnSpc>
                  <a:spcPts val="9590"/>
                </a:lnSpc>
              </a:pPr>
              <a:r>
                <a:rPr lang="en-US" sz="7992" spc="-1">
                  <a:solidFill>
                    <a:srgbClr val="000000"/>
                  </a:solidFill>
                  <a:latin typeface="Arial"/>
                  <a:ea typeface="Arial"/>
                  <a:cs typeface="Arial"/>
                  <a:sym typeface="Arial"/>
                </a:rPr>
                <a:t>Data drift</a:t>
              </a:r>
            </a:p>
            <a:p>
              <a:pPr algn="ctr">
                <a:lnSpc>
                  <a:spcPts val="9590"/>
                </a:lnSpc>
              </a:pPr>
            </a:p>
          </p:txBody>
        </p:sp>
      </p:grpSp>
      <p:sp>
        <p:nvSpPr>
          <p:cNvPr name="TextBox 5" id="5"/>
          <p:cNvSpPr txBox="true"/>
          <p:nvPr/>
        </p:nvSpPr>
        <p:spPr>
          <a:xfrm rot="0">
            <a:off x="415243" y="1518222"/>
            <a:ext cx="16978540" cy="5200650"/>
          </a:xfrm>
          <a:prstGeom prst="rect">
            <a:avLst/>
          </a:prstGeom>
        </p:spPr>
        <p:txBody>
          <a:bodyPr anchor="t" rtlCol="false" tIns="0" lIns="0" bIns="0" rIns="0">
            <a:spAutoFit/>
          </a:bodyPr>
          <a:lstStyle/>
          <a:p>
            <a:pPr algn="just" marL="673802" indent="-336901" lvl="1">
              <a:lnSpc>
                <a:spcPts val="2615"/>
              </a:lnSpc>
              <a:buFont typeface="Arial"/>
              <a:buChar char="•"/>
            </a:pPr>
            <a:r>
              <a:rPr lang="en-US" sz="2179">
                <a:solidFill>
                  <a:srgbClr val="000000"/>
                </a:solidFill>
                <a:latin typeface="Arial"/>
                <a:ea typeface="Arial"/>
                <a:cs typeface="Arial"/>
                <a:sym typeface="Arial"/>
              </a:rPr>
              <a:t>Data drift, feature drift, population Which is: </a:t>
            </a:r>
            <a:r>
              <a:rPr lang="en-US" b="true" sz="2179">
                <a:solidFill>
                  <a:srgbClr val="000000"/>
                </a:solidFill>
                <a:latin typeface="Arial Bold"/>
                <a:ea typeface="Arial Bold"/>
                <a:cs typeface="Arial Bold"/>
                <a:sym typeface="Arial Bold"/>
              </a:rPr>
              <a:t>the input data has changed.</a:t>
            </a:r>
            <a:r>
              <a:rPr lang="en-US" sz="2179">
                <a:solidFill>
                  <a:srgbClr val="000000"/>
                </a:solidFill>
                <a:latin typeface="Arial"/>
                <a:ea typeface="Arial"/>
                <a:cs typeface="Arial"/>
                <a:sym typeface="Arial"/>
              </a:rPr>
              <a:t> </a:t>
            </a:r>
          </a:p>
          <a:p>
            <a:pPr algn="just">
              <a:lnSpc>
                <a:spcPts val="2615"/>
              </a:lnSpc>
            </a:pPr>
          </a:p>
          <a:p>
            <a:pPr algn="just" marL="673802" indent="-336901" lvl="1">
              <a:lnSpc>
                <a:spcPts val="2615"/>
              </a:lnSpc>
              <a:buFont typeface="Arial"/>
              <a:buChar char="•"/>
            </a:pPr>
            <a:r>
              <a:rPr lang="en-US" sz="2179">
                <a:solidFill>
                  <a:srgbClr val="000000"/>
                </a:solidFill>
                <a:latin typeface="Arial"/>
                <a:ea typeface="Arial"/>
                <a:cs typeface="Arial"/>
                <a:sym typeface="Arial"/>
              </a:rPr>
              <a:t>The distribution of the variables is meaningfully different. As a result, the trained model is not relevant for this new data.</a:t>
            </a:r>
          </a:p>
          <a:p>
            <a:pPr algn="just">
              <a:lnSpc>
                <a:spcPts val="2615"/>
              </a:lnSpc>
            </a:pPr>
          </a:p>
          <a:p>
            <a:pPr algn="just" marL="673884" indent="-336942" lvl="1">
              <a:lnSpc>
                <a:spcPts val="2615"/>
              </a:lnSpc>
              <a:buFont typeface="Arial"/>
              <a:buChar char="•"/>
            </a:pPr>
            <a:r>
              <a:rPr lang="en-US" sz="2179" spc="-1">
                <a:solidFill>
                  <a:srgbClr val="000000"/>
                </a:solidFill>
                <a:latin typeface="Arial"/>
                <a:ea typeface="Arial"/>
                <a:cs typeface="Arial"/>
                <a:sym typeface="Arial"/>
              </a:rPr>
              <a:t>It would still perform well on the data that is similar to the “old” one! </a:t>
            </a:r>
          </a:p>
          <a:p>
            <a:pPr algn="just">
              <a:lnSpc>
                <a:spcPts val="2615"/>
              </a:lnSpc>
            </a:pPr>
          </a:p>
          <a:p>
            <a:pPr algn="just">
              <a:lnSpc>
                <a:spcPts val="2615"/>
              </a:lnSpc>
            </a:pPr>
            <a:r>
              <a:rPr lang="en-US" b="true" sz="2179" spc="-1">
                <a:solidFill>
                  <a:srgbClr val="000000"/>
                </a:solidFill>
                <a:latin typeface="Arial Bold"/>
                <a:ea typeface="Arial Bold"/>
                <a:cs typeface="Arial Bold"/>
                <a:sym typeface="Arial Bold"/>
              </a:rPr>
              <a:t>Example:</a:t>
            </a:r>
          </a:p>
          <a:p>
            <a:pPr algn="just" marL="673802" indent="-336901" lvl="1">
              <a:lnSpc>
                <a:spcPts val="2615"/>
              </a:lnSpc>
              <a:buFont typeface="Arial"/>
              <a:buChar char="•"/>
            </a:pPr>
            <a:r>
              <a:rPr lang="en-US" sz="2179">
                <a:solidFill>
                  <a:srgbClr val="000000"/>
                </a:solidFill>
                <a:latin typeface="Arial"/>
                <a:ea typeface="Arial"/>
                <a:cs typeface="Arial"/>
                <a:sym typeface="Arial"/>
              </a:rPr>
              <a:t>An online marketplace attracts users through advertising. Soon after newcomers sign up, we want to predict how likely they will make a purchase in order to send them personalized offers.</a:t>
            </a:r>
          </a:p>
          <a:p>
            <a:pPr algn="just">
              <a:lnSpc>
                <a:spcPts val="2615"/>
              </a:lnSpc>
            </a:pPr>
          </a:p>
          <a:p>
            <a:pPr algn="just" marL="673802" indent="-336901" lvl="1">
              <a:lnSpc>
                <a:spcPts val="2615"/>
              </a:lnSpc>
              <a:buFont typeface="Arial"/>
              <a:buChar char="•"/>
            </a:pPr>
            <a:r>
              <a:rPr lang="en-US" sz="2179">
                <a:solidFill>
                  <a:srgbClr val="000000"/>
                </a:solidFill>
                <a:latin typeface="Arial"/>
                <a:ea typeface="Arial"/>
                <a:cs typeface="Arial"/>
                <a:sym typeface="Arial"/>
              </a:rPr>
              <a:t>Previously most user acquisition happened through paid search. After a new ad campaign, a lot of users come from Facebook. In training, our machine learning model did not do well in this segment. It had limited examples to learn from.</a:t>
            </a:r>
          </a:p>
          <a:p>
            <a:pPr algn="just">
              <a:lnSpc>
                <a:spcPts val="2615"/>
              </a:lnSpc>
            </a:pPr>
          </a:p>
          <a:p>
            <a:pPr algn="just" marL="673884" indent="-336942" lvl="1">
              <a:lnSpc>
                <a:spcPts val="2615"/>
              </a:lnSpc>
              <a:buFont typeface="Arial"/>
              <a:buChar char="•"/>
            </a:pPr>
            <a:r>
              <a:rPr lang="en-US" sz="2179" spc="-1">
                <a:solidFill>
                  <a:srgbClr val="000000"/>
                </a:solidFill>
                <a:latin typeface="Arial"/>
                <a:ea typeface="Arial"/>
                <a:cs typeface="Arial"/>
                <a:sym typeface="Arial"/>
              </a:rPr>
              <a:t>Still, the overall model quality was sufficient since this sub-population was small. Now that it grew, the performance predictably dropped</a:t>
            </a:r>
          </a:p>
          <a:p>
            <a:pPr algn="just" marL="673884" indent="-336942" lvl="1">
              <a:lnSpc>
                <a:spcPts val="2615"/>
              </a:lnSpc>
            </a:pPr>
          </a:p>
        </p:txBody>
      </p:sp>
      <p:grpSp>
        <p:nvGrpSpPr>
          <p:cNvPr name="Group 6" id="6"/>
          <p:cNvGrpSpPr>
            <a:grpSpLocks noChangeAspect="true"/>
          </p:cNvGrpSpPr>
          <p:nvPr/>
        </p:nvGrpSpPr>
        <p:grpSpPr>
          <a:xfrm rot="0">
            <a:off x="11375150" y="6718872"/>
            <a:ext cx="5350424" cy="3009368"/>
            <a:chOff x="0" y="0"/>
            <a:chExt cx="7133899" cy="4012491"/>
          </a:xfrm>
        </p:grpSpPr>
        <p:sp>
          <p:nvSpPr>
            <p:cNvPr name="Freeform 7" id="7"/>
            <p:cNvSpPr/>
            <p:nvPr/>
          </p:nvSpPr>
          <p:spPr>
            <a:xfrm flipH="false" flipV="false" rot="0">
              <a:off x="0" y="0"/>
              <a:ext cx="7133844" cy="4012438"/>
            </a:xfrm>
            <a:custGeom>
              <a:avLst/>
              <a:gdLst/>
              <a:ahLst/>
              <a:cxnLst/>
              <a:rect r="r" b="b" t="t" l="l"/>
              <a:pathLst>
                <a:path h="4012438" w="7133844">
                  <a:moveTo>
                    <a:pt x="0" y="0"/>
                  </a:moveTo>
                  <a:lnTo>
                    <a:pt x="7133844" y="0"/>
                  </a:lnTo>
                  <a:lnTo>
                    <a:pt x="7133844" y="4012438"/>
                  </a:lnTo>
                  <a:lnTo>
                    <a:pt x="0" y="4012438"/>
                  </a:lnTo>
                  <a:lnTo>
                    <a:pt x="0" y="0"/>
                  </a:lnTo>
                  <a:close/>
                </a:path>
              </a:pathLst>
            </a:custGeom>
            <a:blipFill>
              <a:blip r:embed="rId2"/>
              <a:stretch>
                <a:fillRect l="0" t="-4" r="0" b="-5"/>
              </a:stretch>
            </a:blipFill>
          </p:spPr>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5497" y="134709"/>
            <a:ext cx="16478286" cy="2271086"/>
            <a:chOff x="0" y="0"/>
            <a:chExt cx="21971049" cy="3028114"/>
          </a:xfrm>
        </p:grpSpPr>
        <p:sp>
          <p:nvSpPr>
            <p:cNvPr name="Freeform 3" id="3"/>
            <p:cNvSpPr/>
            <p:nvPr/>
          </p:nvSpPr>
          <p:spPr>
            <a:xfrm flipH="false" flipV="false" rot="0">
              <a:off x="0" y="0"/>
              <a:ext cx="21971048" cy="3028114"/>
            </a:xfrm>
            <a:custGeom>
              <a:avLst/>
              <a:gdLst/>
              <a:ahLst/>
              <a:cxnLst/>
              <a:rect r="r" b="b" t="t" l="l"/>
              <a:pathLst>
                <a:path h="3028114" w="21971048">
                  <a:moveTo>
                    <a:pt x="0" y="0"/>
                  </a:moveTo>
                  <a:lnTo>
                    <a:pt x="21971048" y="0"/>
                  </a:lnTo>
                  <a:lnTo>
                    <a:pt x="21971048" y="3028114"/>
                  </a:lnTo>
                  <a:lnTo>
                    <a:pt x="0" y="3028114"/>
                  </a:lnTo>
                  <a:close/>
                </a:path>
              </a:pathLst>
            </a:custGeom>
            <a:solidFill>
              <a:srgbClr val="000000">
                <a:alpha val="0"/>
              </a:srgbClr>
            </a:solidFill>
          </p:spPr>
        </p:sp>
        <p:sp>
          <p:nvSpPr>
            <p:cNvPr name="TextBox 4" id="4"/>
            <p:cNvSpPr txBox="true"/>
            <p:nvPr/>
          </p:nvSpPr>
          <p:spPr>
            <a:xfrm>
              <a:off x="0" y="-28575"/>
              <a:ext cx="21971049" cy="3056689"/>
            </a:xfrm>
            <a:prstGeom prst="rect">
              <a:avLst/>
            </a:prstGeom>
          </p:spPr>
          <p:txBody>
            <a:bodyPr anchor="ctr" rtlCol="false" tIns="0" lIns="0" bIns="0" rIns="0"/>
            <a:lstStyle/>
            <a:p>
              <a:pPr algn="ctr">
                <a:lnSpc>
                  <a:spcPts val="9590"/>
                </a:lnSpc>
              </a:pPr>
              <a:r>
                <a:rPr lang="en-US" sz="7992" spc="-1">
                  <a:solidFill>
                    <a:srgbClr val="000000"/>
                  </a:solidFill>
                  <a:latin typeface="Arial"/>
                  <a:ea typeface="Arial"/>
                  <a:cs typeface="Arial"/>
                  <a:sym typeface="Arial"/>
                </a:rPr>
                <a:t>Training-serving skew</a:t>
              </a:r>
            </a:p>
            <a:p>
              <a:pPr algn="ctr">
                <a:lnSpc>
                  <a:spcPts val="9590"/>
                </a:lnSpc>
              </a:pPr>
            </a:p>
          </p:txBody>
        </p:sp>
      </p:grpSp>
      <p:sp>
        <p:nvSpPr>
          <p:cNvPr name="TextBox 5" id="5"/>
          <p:cNvSpPr txBox="true"/>
          <p:nvPr/>
        </p:nvSpPr>
        <p:spPr>
          <a:xfrm rot="0">
            <a:off x="415243" y="1641923"/>
            <a:ext cx="9965835" cy="8323913"/>
          </a:xfrm>
          <a:prstGeom prst="rect">
            <a:avLst/>
          </a:prstGeom>
        </p:spPr>
        <p:txBody>
          <a:bodyPr anchor="t" rtlCol="false" tIns="0" lIns="0" bIns="0" rIns="0">
            <a:spAutoFit/>
          </a:bodyPr>
          <a:lstStyle/>
          <a:p>
            <a:pPr algn="just">
              <a:lnSpc>
                <a:spcPts val="2615"/>
              </a:lnSpc>
            </a:pPr>
            <a:r>
              <a:rPr lang="en-US" sz="2179" spc="-1">
                <a:solidFill>
                  <a:srgbClr val="000000"/>
                </a:solidFill>
                <a:latin typeface="Arial"/>
                <a:ea typeface="Arial"/>
                <a:cs typeface="Arial"/>
                <a:sym typeface="Arial"/>
              </a:rPr>
              <a:t>It is often mixed with data drift or used interchangeably. The way we analyze them might indeed be similar, but the root cause of skew is not the same.</a:t>
            </a:r>
          </a:p>
          <a:p>
            <a:pPr algn="just">
              <a:lnSpc>
                <a:spcPts val="2615"/>
              </a:lnSpc>
            </a:pPr>
          </a:p>
          <a:p>
            <a:pPr algn="just">
              <a:lnSpc>
                <a:spcPts val="2615"/>
              </a:lnSpc>
            </a:pPr>
            <a:r>
              <a:rPr lang="en-US" sz="2179" spc="-1">
                <a:solidFill>
                  <a:srgbClr val="000000"/>
                </a:solidFill>
                <a:latin typeface="Arial"/>
                <a:ea typeface="Arial"/>
                <a:cs typeface="Arial"/>
                <a:sym typeface="Arial"/>
              </a:rPr>
              <a:t>In this case, there is no “drift,” which assumes a change during the production use of the model. Training-serving skew is more of a mismatch. </a:t>
            </a:r>
            <a:r>
              <a:rPr lang="en-US" b="true" sz="2179" spc="-1">
                <a:solidFill>
                  <a:srgbClr val="000000"/>
                </a:solidFill>
                <a:latin typeface="Arial Bold"/>
                <a:ea typeface="Arial Bold"/>
                <a:cs typeface="Arial Bold"/>
                <a:sym typeface="Arial Bold"/>
              </a:rPr>
              <a:t>It reveals at the first attempt to apply the model to the real data.</a:t>
            </a:r>
          </a:p>
          <a:p>
            <a:pPr algn="just">
              <a:lnSpc>
                <a:spcPts val="2615"/>
              </a:lnSpc>
            </a:pPr>
          </a:p>
          <a:p>
            <a:pPr algn="just">
              <a:lnSpc>
                <a:spcPts val="2615"/>
              </a:lnSpc>
            </a:pPr>
            <a:r>
              <a:rPr lang="en-US" b="true" sz="2179" spc="-1">
                <a:solidFill>
                  <a:srgbClr val="000000"/>
                </a:solidFill>
                <a:latin typeface="Arial Bold"/>
                <a:ea typeface="Arial Bold"/>
                <a:cs typeface="Arial Bold"/>
                <a:sym typeface="Arial Bold"/>
              </a:rPr>
              <a:t>It often happens when you train a model on an artificially constructed or cleaned dataset. This data does not necessarily represent the real world, or does this incompletely.</a:t>
            </a:r>
          </a:p>
          <a:p>
            <a:pPr algn="just">
              <a:lnSpc>
                <a:spcPts val="2615"/>
              </a:lnSpc>
            </a:pPr>
          </a:p>
          <a:p>
            <a:pPr algn="just">
              <a:lnSpc>
                <a:spcPts val="2615"/>
              </a:lnSpc>
            </a:pPr>
            <a:r>
              <a:rPr lang="en-US" sz="2179" spc="-1">
                <a:solidFill>
                  <a:srgbClr val="000000"/>
                </a:solidFill>
                <a:latin typeface="Arial"/>
                <a:ea typeface="Arial"/>
                <a:cs typeface="Arial"/>
                <a:sym typeface="Arial"/>
              </a:rPr>
              <a:t>For example, an invoice classification model is trained on a limited set of crowdsourced images. It does well on the test set. But once put in production, it is surprised by the diversity of how people fill in the invoice data. Or the low quality of scanned images compared to model training.</a:t>
            </a:r>
          </a:p>
        </p:txBody>
      </p:sp>
      <p:grpSp>
        <p:nvGrpSpPr>
          <p:cNvPr name="Group 6" id="6"/>
          <p:cNvGrpSpPr>
            <a:grpSpLocks noChangeAspect="true"/>
          </p:cNvGrpSpPr>
          <p:nvPr/>
        </p:nvGrpSpPr>
        <p:grpSpPr>
          <a:xfrm rot="0">
            <a:off x="10740789" y="1902443"/>
            <a:ext cx="8119802" cy="4567675"/>
            <a:chOff x="0" y="0"/>
            <a:chExt cx="10826402" cy="6090233"/>
          </a:xfrm>
        </p:grpSpPr>
        <p:sp>
          <p:nvSpPr>
            <p:cNvPr name="Freeform 7" id="7"/>
            <p:cNvSpPr/>
            <p:nvPr/>
          </p:nvSpPr>
          <p:spPr>
            <a:xfrm flipH="false" flipV="false" rot="0">
              <a:off x="0" y="0"/>
              <a:ext cx="10826369" cy="6090285"/>
            </a:xfrm>
            <a:custGeom>
              <a:avLst/>
              <a:gdLst/>
              <a:ahLst/>
              <a:cxnLst/>
              <a:rect r="r" b="b" t="t" l="l"/>
              <a:pathLst>
                <a:path h="6090285" w="10826369">
                  <a:moveTo>
                    <a:pt x="0" y="0"/>
                  </a:moveTo>
                  <a:lnTo>
                    <a:pt x="10826369" y="0"/>
                  </a:lnTo>
                  <a:lnTo>
                    <a:pt x="10826369" y="6090285"/>
                  </a:lnTo>
                  <a:lnTo>
                    <a:pt x="0" y="6090285"/>
                  </a:lnTo>
                  <a:lnTo>
                    <a:pt x="0" y="0"/>
                  </a:lnTo>
                  <a:close/>
                </a:path>
              </a:pathLst>
            </a:custGeom>
            <a:blipFill>
              <a:blip r:embed="rId2"/>
              <a:stretch>
                <a:fillRect l="-3" t="0" r="-3" b="0"/>
              </a:stretch>
            </a:blipFill>
          </p:spPr>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5497" y="410666"/>
            <a:ext cx="16478286" cy="1719172"/>
            <a:chOff x="0" y="0"/>
            <a:chExt cx="21971049" cy="2292229"/>
          </a:xfrm>
        </p:grpSpPr>
        <p:sp>
          <p:nvSpPr>
            <p:cNvPr name="Freeform 3" id="3"/>
            <p:cNvSpPr/>
            <p:nvPr/>
          </p:nvSpPr>
          <p:spPr>
            <a:xfrm flipH="false" flipV="false" rot="0">
              <a:off x="0" y="0"/>
              <a:ext cx="21971048" cy="2292229"/>
            </a:xfrm>
            <a:custGeom>
              <a:avLst/>
              <a:gdLst/>
              <a:ahLst/>
              <a:cxnLst/>
              <a:rect r="r" b="b" t="t" l="l"/>
              <a:pathLst>
                <a:path h="2292229" w="21971048">
                  <a:moveTo>
                    <a:pt x="0" y="0"/>
                  </a:moveTo>
                  <a:lnTo>
                    <a:pt x="21971048" y="0"/>
                  </a:lnTo>
                  <a:lnTo>
                    <a:pt x="21971048" y="2292229"/>
                  </a:lnTo>
                  <a:lnTo>
                    <a:pt x="0" y="2292229"/>
                  </a:lnTo>
                  <a:close/>
                </a:path>
              </a:pathLst>
            </a:custGeom>
            <a:solidFill>
              <a:srgbClr val="000000">
                <a:alpha val="0"/>
              </a:srgbClr>
            </a:solidFill>
          </p:spPr>
        </p:sp>
        <p:sp>
          <p:nvSpPr>
            <p:cNvPr name="TextBox 4" id="4"/>
            <p:cNvSpPr txBox="true"/>
            <p:nvPr/>
          </p:nvSpPr>
          <p:spPr>
            <a:xfrm>
              <a:off x="0" y="-28575"/>
              <a:ext cx="21971049" cy="2320804"/>
            </a:xfrm>
            <a:prstGeom prst="rect">
              <a:avLst/>
            </a:prstGeom>
          </p:spPr>
          <p:txBody>
            <a:bodyPr anchor="ctr" rtlCol="false" tIns="0" lIns="0" bIns="0" rIns="0"/>
            <a:lstStyle/>
            <a:p>
              <a:pPr algn="ctr">
                <a:lnSpc>
                  <a:spcPts val="9590"/>
                </a:lnSpc>
              </a:pPr>
              <a:r>
                <a:rPr lang="en-US" sz="7992" spc="-1">
                  <a:solidFill>
                    <a:srgbClr val="000000"/>
                  </a:solidFill>
                  <a:latin typeface="Arial"/>
                  <a:ea typeface="Arial"/>
                  <a:cs typeface="Arial"/>
                  <a:sym typeface="Arial"/>
                </a:rPr>
                <a:t>Concept drift</a:t>
              </a:r>
            </a:p>
          </p:txBody>
        </p:sp>
      </p:grpSp>
      <p:sp>
        <p:nvSpPr>
          <p:cNvPr name="TextBox 5" id="5"/>
          <p:cNvSpPr txBox="true"/>
          <p:nvPr/>
        </p:nvSpPr>
        <p:spPr>
          <a:xfrm rot="0">
            <a:off x="1245729" y="2887652"/>
            <a:ext cx="16194482" cy="5832454"/>
          </a:xfrm>
          <a:prstGeom prst="rect">
            <a:avLst/>
          </a:prstGeom>
        </p:spPr>
        <p:txBody>
          <a:bodyPr anchor="t" rtlCol="false" tIns="0" lIns="0" bIns="0" rIns="0">
            <a:spAutoFit/>
          </a:bodyPr>
          <a:lstStyle/>
          <a:p>
            <a:pPr algn="just">
              <a:lnSpc>
                <a:spcPts val="2615"/>
              </a:lnSpc>
            </a:pPr>
            <a:r>
              <a:rPr lang="en-US" sz="2179" spc="-1">
                <a:solidFill>
                  <a:srgbClr val="000000"/>
                </a:solidFill>
                <a:latin typeface="Arial"/>
                <a:ea typeface="Arial"/>
                <a:cs typeface="Arial"/>
                <a:sym typeface="Arial"/>
              </a:rPr>
              <a:t>Concept drift occurs when the patterns the model learned no longer hold.</a:t>
            </a:r>
          </a:p>
          <a:p>
            <a:pPr algn="just">
              <a:lnSpc>
                <a:spcPts val="2615"/>
              </a:lnSpc>
            </a:pPr>
            <a:r>
              <a:rPr lang="en-US" sz="2179" spc="-1">
                <a:solidFill>
                  <a:srgbClr val="000000"/>
                </a:solidFill>
                <a:latin typeface="Arial"/>
                <a:ea typeface="Arial"/>
                <a:cs typeface="Arial"/>
                <a:sym typeface="Arial"/>
              </a:rPr>
              <a:t>In contrast to the data drift, the distributions (such as user demographics, frequency of words, etc.) might even remain the same. Instead, the relationships between the model inputs and outputs change.</a:t>
            </a:r>
          </a:p>
          <a:p>
            <a:pPr algn="just">
              <a:lnSpc>
                <a:spcPts val="2615"/>
              </a:lnSpc>
            </a:pPr>
            <a:r>
              <a:rPr lang="en-US" sz="2179" spc="-1">
                <a:solidFill>
                  <a:srgbClr val="000000"/>
                </a:solidFill>
                <a:latin typeface="Arial"/>
                <a:ea typeface="Arial"/>
                <a:cs typeface="Arial"/>
                <a:sym typeface="Arial"/>
              </a:rPr>
              <a:t>In essence, the very meaning of what we are trying to predict evolves. Depending on the scale, this will make the model less accurate or even obsolete.</a:t>
            </a:r>
          </a:p>
          <a:p>
            <a:pPr algn="just">
              <a:lnSpc>
                <a:spcPts val="2615"/>
              </a:lnSpc>
            </a:pPr>
            <a:r>
              <a:rPr lang="en-US" sz="2179" spc="-1">
                <a:solidFill>
                  <a:srgbClr val="000000"/>
                </a:solidFill>
                <a:latin typeface="Arial"/>
                <a:ea typeface="Arial"/>
                <a:cs typeface="Arial"/>
                <a:sym typeface="Arial"/>
              </a:rPr>
              <a:t>Concept drift comes in different flavors.</a:t>
            </a:r>
          </a:p>
          <a:p>
            <a:pPr algn="just" marL="673884" indent="-336942" lvl="1">
              <a:lnSpc>
                <a:spcPts val="2615"/>
              </a:lnSpc>
              <a:buFont typeface="Arial"/>
              <a:buChar char="•"/>
            </a:pPr>
            <a:r>
              <a:rPr lang="en-US" b="true" sz="2179" spc="-1">
                <a:solidFill>
                  <a:srgbClr val="000000"/>
                </a:solidFill>
                <a:latin typeface="Arial Bold"/>
                <a:ea typeface="Arial Bold"/>
                <a:cs typeface="Arial Bold"/>
                <a:sym typeface="Arial Bold"/>
              </a:rPr>
              <a:t>Gradual</a:t>
            </a:r>
          </a:p>
          <a:p>
            <a:pPr algn="just" marL="673884" indent="-336942" lvl="1">
              <a:lnSpc>
                <a:spcPts val="2615"/>
              </a:lnSpc>
              <a:buFont typeface="Arial"/>
              <a:buChar char="•"/>
            </a:pPr>
            <a:r>
              <a:rPr lang="en-US" b="true" sz="2179" spc="-1">
                <a:solidFill>
                  <a:srgbClr val="000000"/>
                </a:solidFill>
                <a:latin typeface="Arial Bold"/>
                <a:ea typeface="Arial Bold"/>
                <a:cs typeface="Arial Bold"/>
                <a:sym typeface="Arial Bold"/>
              </a:rPr>
              <a:t>Sudden</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5497" y="410666"/>
            <a:ext cx="16478286" cy="1719172"/>
            <a:chOff x="0" y="0"/>
            <a:chExt cx="21971049" cy="2292229"/>
          </a:xfrm>
        </p:grpSpPr>
        <p:sp>
          <p:nvSpPr>
            <p:cNvPr name="Freeform 3" id="3"/>
            <p:cNvSpPr/>
            <p:nvPr/>
          </p:nvSpPr>
          <p:spPr>
            <a:xfrm flipH="false" flipV="false" rot="0">
              <a:off x="0" y="0"/>
              <a:ext cx="21971048" cy="2292229"/>
            </a:xfrm>
            <a:custGeom>
              <a:avLst/>
              <a:gdLst/>
              <a:ahLst/>
              <a:cxnLst/>
              <a:rect r="r" b="b" t="t" l="l"/>
              <a:pathLst>
                <a:path h="2292229" w="21971048">
                  <a:moveTo>
                    <a:pt x="0" y="0"/>
                  </a:moveTo>
                  <a:lnTo>
                    <a:pt x="21971048" y="0"/>
                  </a:lnTo>
                  <a:lnTo>
                    <a:pt x="21971048" y="2292229"/>
                  </a:lnTo>
                  <a:lnTo>
                    <a:pt x="0" y="2292229"/>
                  </a:lnTo>
                  <a:close/>
                </a:path>
              </a:pathLst>
            </a:custGeom>
            <a:solidFill>
              <a:srgbClr val="000000">
                <a:alpha val="0"/>
              </a:srgbClr>
            </a:solidFill>
          </p:spPr>
        </p:sp>
        <p:sp>
          <p:nvSpPr>
            <p:cNvPr name="TextBox 4" id="4"/>
            <p:cNvSpPr txBox="true"/>
            <p:nvPr/>
          </p:nvSpPr>
          <p:spPr>
            <a:xfrm>
              <a:off x="0" y="-28575"/>
              <a:ext cx="21971049" cy="2320804"/>
            </a:xfrm>
            <a:prstGeom prst="rect">
              <a:avLst/>
            </a:prstGeom>
          </p:spPr>
          <p:txBody>
            <a:bodyPr anchor="ctr" rtlCol="false" tIns="0" lIns="0" bIns="0" rIns="0"/>
            <a:lstStyle/>
            <a:p>
              <a:pPr algn="ctr">
                <a:lnSpc>
                  <a:spcPts val="9590"/>
                </a:lnSpc>
              </a:pPr>
              <a:r>
                <a:rPr lang="en-US" sz="7992" spc="-1">
                  <a:solidFill>
                    <a:srgbClr val="000000"/>
                  </a:solidFill>
                  <a:latin typeface="Arial"/>
                  <a:ea typeface="Arial"/>
                  <a:cs typeface="Arial"/>
                  <a:sym typeface="Arial"/>
                </a:rPr>
                <a:t>Gradual concept drift</a:t>
              </a:r>
            </a:p>
          </p:txBody>
        </p:sp>
      </p:grpSp>
      <p:sp>
        <p:nvSpPr>
          <p:cNvPr name="TextBox 5" id="5"/>
          <p:cNvSpPr txBox="true"/>
          <p:nvPr/>
        </p:nvSpPr>
        <p:spPr>
          <a:xfrm rot="0">
            <a:off x="961925" y="2057166"/>
            <a:ext cx="16478286" cy="5992012"/>
          </a:xfrm>
          <a:prstGeom prst="rect">
            <a:avLst/>
          </a:prstGeom>
        </p:spPr>
        <p:txBody>
          <a:bodyPr anchor="t" rtlCol="false" tIns="0" lIns="0" bIns="0" rIns="0">
            <a:spAutoFit/>
          </a:bodyPr>
          <a:lstStyle/>
          <a:p>
            <a:pPr algn="l">
              <a:lnSpc>
                <a:spcPts val="2615"/>
              </a:lnSpc>
            </a:pPr>
            <a:r>
              <a:rPr lang="en-US" sz="2179" spc="-1">
                <a:solidFill>
                  <a:srgbClr val="000000"/>
                </a:solidFill>
                <a:latin typeface="Arial"/>
                <a:ea typeface="Arial"/>
                <a:cs typeface="Arial"/>
                <a:sym typeface="Arial"/>
              </a:rPr>
              <a:t>The world changes and the model grows old. Its quality decline follows the gradual changes in external factors.</a:t>
            </a:r>
          </a:p>
          <a:p>
            <a:pPr algn="l">
              <a:lnSpc>
                <a:spcPts val="2615"/>
              </a:lnSpc>
            </a:pPr>
            <a:r>
              <a:rPr lang="en-US" sz="2179" spc="-1">
                <a:solidFill>
                  <a:srgbClr val="000000"/>
                </a:solidFill>
                <a:latin typeface="Arial"/>
                <a:ea typeface="Arial"/>
                <a:cs typeface="Arial"/>
                <a:sym typeface="Arial"/>
              </a:rPr>
              <a:t>Some examples:</a:t>
            </a:r>
          </a:p>
          <a:p>
            <a:pPr algn="l" marL="673884" indent="-336942" lvl="1">
              <a:lnSpc>
                <a:spcPts val="2615"/>
              </a:lnSpc>
              <a:buFont typeface="Arial"/>
              <a:buChar char="•"/>
            </a:pPr>
            <a:r>
              <a:rPr lang="en-US" b="true" sz="2179" spc="-1">
                <a:solidFill>
                  <a:srgbClr val="000000"/>
                </a:solidFill>
                <a:latin typeface="Arial Bold"/>
                <a:ea typeface="Arial Bold"/>
                <a:cs typeface="Arial Bold"/>
                <a:sym typeface="Arial Bold"/>
              </a:rPr>
              <a:t>Competitors launch new products.</a:t>
            </a:r>
            <a:r>
              <a:rPr lang="en-US" sz="2179" spc="-1">
                <a:solidFill>
                  <a:srgbClr val="000000"/>
                </a:solidFill>
                <a:latin typeface="Arial"/>
                <a:ea typeface="Arial"/>
                <a:cs typeface="Arial"/>
                <a:sym typeface="Arial"/>
              </a:rPr>
              <a:t> Consumers have more choices, and their behavior changes. As should sales forecasting models.</a:t>
            </a:r>
          </a:p>
          <a:p>
            <a:pPr algn="l" marL="673884" indent="-336942" lvl="1">
              <a:lnSpc>
                <a:spcPts val="2615"/>
              </a:lnSpc>
              <a:buFont typeface="Arial"/>
              <a:buChar char="•"/>
            </a:pPr>
            <a:r>
              <a:rPr lang="en-US" b="true" sz="2179" spc="-1">
                <a:solidFill>
                  <a:srgbClr val="000000"/>
                </a:solidFill>
                <a:latin typeface="Arial Bold"/>
                <a:ea typeface="Arial Bold"/>
                <a:cs typeface="Arial Bold"/>
                <a:sym typeface="Arial Bold"/>
              </a:rPr>
              <a:t>Macroeconomic conditions evolve. </a:t>
            </a:r>
            <a:r>
              <a:rPr lang="en-US" sz="2179" spc="-1">
                <a:solidFill>
                  <a:srgbClr val="000000"/>
                </a:solidFill>
                <a:latin typeface="Arial"/>
                <a:ea typeface="Arial"/>
                <a:cs typeface="Arial"/>
                <a:sym typeface="Arial"/>
              </a:rPr>
              <a:t>As some borrowers default on their loans, the credit risk is redefined. Scoring models need to learn it.</a:t>
            </a:r>
          </a:p>
          <a:p>
            <a:pPr algn="l" marL="673884" indent="-336942" lvl="1">
              <a:lnSpc>
                <a:spcPts val="2615"/>
              </a:lnSpc>
              <a:buFont typeface="Arial"/>
              <a:buChar char="•"/>
            </a:pPr>
            <a:r>
              <a:rPr lang="en-US" b="true" sz="2179" spc="-1">
                <a:solidFill>
                  <a:srgbClr val="000000"/>
                </a:solidFill>
                <a:latin typeface="Arial Bold"/>
                <a:ea typeface="Arial Bold"/>
                <a:cs typeface="Arial Bold"/>
                <a:sym typeface="Arial Bold"/>
              </a:rPr>
              <a:t>Mechanical wear of equipment.</a:t>
            </a:r>
            <a:r>
              <a:rPr lang="en-US" sz="2179" spc="-1">
                <a:solidFill>
                  <a:srgbClr val="000000"/>
                </a:solidFill>
                <a:latin typeface="Arial"/>
                <a:ea typeface="Arial"/>
                <a:cs typeface="Arial"/>
                <a:sym typeface="Arial"/>
              </a:rPr>
              <a:t> Under the same process parameters, the patterns are now slightly different. It affects quality prediction models in manufacturing.</a:t>
            </a:r>
          </a:p>
          <a:p>
            <a:pPr algn="l" marL="673884" indent="-336942" lvl="1">
              <a:lnSpc>
                <a:spcPts val="2615"/>
              </a:lnSpc>
            </a:pPr>
            <a:r>
              <a:rPr lang="en-US" sz="2179" spc="-1">
                <a:solidFill>
                  <a:srgbClr val="000000"/>
                </a:solidFill>
                <a:latin typeface="Arial"/>
                <a:ea typeface="Arial"/>
                <a:cs typeface="Arial"/>
                <a:sym typeface="Arial"/>
              </a:rPr>
              <a:t>No individual change is dramatic. Each might affect only a tiny segment. But eventually, they add up. Sometimes it is possible to observe the shift at a level of individual features.</a:t>
            </a:r>
          </a:p>
          <a:p>
            <a:pPr algn="l" marL="673884" indent="-336942" lvl="1">
              <a:lnSpc>
                <a:spcPts val="2615"/>
              </a:lnSpc>
            </a:pPr>
          </a:p>
        </p:txBody>
      </p:sp>
      <p:grpSp>
        <p:nvGrpSpPr>
          <p:cNvPr name="Group 6" id="6"/>
          <p:cNvGrpSpPr>
            <a:grpSpLocks noChangeAspect="true"/>
          </p:cNvGrpSpPr>
          <p:nvPr/>
        </p:nvGrpSpPr>
        <p:grpSpPr>
          <a:xfrm rot="0">
            <a:off x="10796322" y="6643890"/>
            <a:ext cx="6228647" cy="3503737"/>
            <a:chOff x="0" y="0"/>
            <a:chExt cx="8304863" cy="4671649"/>
          </a:xfrm>
        </p:grpSpPr>
        <p:sp>
          <p:nvSpPr>
            <p:cNvPr name="Freeform 7" id="7"/>
            <p:cNvSpPr/>
            <p:nvPr/>
          </p:nvSpPr>
          <p:spPr>
            <a:xfrm flipH="false" flipV="false" rot="0">
              <a:off x="0" y="0"/>
              <a:ext cx="8304911" cy="4671695"/>
            </a:xfrm>
            <a:custGeom>
              <a:avLst/>
              <a:gdLst/>
              <a:ahLst/>
              <a:cxnLst/>
              <a:rect r="r" b="b" t="t" l="l"/>
              <a:pathLst>
                <a:path h="4671695" w="8304911">
                  <a:moveTo>
                    <a:pt x="0" y="0"/>
                  </a:moveTo>
                  <a:lnTo>
                    <a:pt x="8304911" y="0"/>
                  </a:lnTo>
                  <a:lnTo>
                    <a:pt x="8304911" y="4671695"/>
                  </a:lnTo>
                  <a:lnTo>
                    <a:pt x="0" y="4671695"/>
                  </a:lnTo>
                  <a:lnTo>
                    <a:pt x="0" y="0"/>
                  </a:lnTo>
                  <a:close/>
                </a:path>
              </a:pathLst>
            </a:custGeom>
            <a:blipFill>
              <a:blip r:embed="rId2"/>
              <a:stretch>
                <a:fillRect l="-1" t="0" r="-1" b="0"/>
              </a:stretch>
            </a:blipFill>
          </p:spPr>
        </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5497" y="410666"/>
            <a:ext cx="16478286" cy="1719172"/>
            <a:chOff x="0" y="0"/>
            <a:chExt cx="21971049" cy="2292229"/>
          </a:xfrm>
        </p:grpSpPr>
        <p:sp>
          <p:nvSpPr>
            <p:cNvPr name="Freeform 3" id="3"/>
            <p:cNvSpPr/>
            <p:nvPr/>
          </p:nvSpPr>
          <p:spPr>
            <a:xfrm flipH="false" flipV="false" rot="0">
              <a:off x="0" y="0"/>
              <a:ext cx="21971048" cy="2292229"/>
            </a:xfrm>
            <a:custGeom>
              <a:avLst/>
              <a:gdLst/>
              <a:ahLst/>
              <a:cxnLst/>
              <a:rect r="r" b="b" t="t" l="l"/>
              <a:pathLst>
                <a:path h="2292229" w="21971048">
                  <a:moveTo>
                    <a:pt x="0" y="0"/>
                  </a:moveTo>
                  <a:lnTo>
                    <a:pt x="21971048" y="0"/>
                  </a:lnTo>
                  <a:lnTo>
                    <a:pt x="21971048" y="2292229"/>
                  </a:lnTo>
                  <a:lnTo>
                    <a:pt x="0" y="2292229"/>
                  </a:lnTo>
                  <a:close/>
                </a:path>
              </a:pathLst>
            </a:custGeom>
            <a:solidFill>
              <a:srgbClr val="000000">
                <a:alpha val="0"/>
              </a:srgbClr>
            </a:solidFill>
          </p:spPr>
        </p:sp>
        <p:sp>
          <p:nvSpPr>
            <p:cNvPr name="TextBox 4" id="4"/>
            <p:cNvSpPr txBox="true"/>
            <p:nvPr/>
          </p:nvSpPr>
          <p:spPr>
            <a:xfrm>
              <a:off x="0" y="-28575"/>
              <a:ext cx="21971049" cy="2320804"/>
            </a:xfrm>
            <a:prstGeom prst="rect">
              <a:avLst/>
            </a:prstGeom>
          </p:spPr>
          <p:txBody>
            <a:bodyPr anchor="ctr" rtlCol="false" tIns="0" lIns="0" bIns="0" rIns="0"/>
            <a:lstStyle/>
            <a:p>
              <a:pPr algn="ctr">
                <a:lnSpc>
                  <a:spcPts val="9590"/>
                </a:lnSpc>
              </a:pPr>
              <a:r>
                <a:rPr lang="en-US" sz="7992" spc="-1">
                  <a:solidFill>
                    <a:srgbClr val="000000"/>
                  </a:solidFill>
                  <a:latin typeface="Arial"/>
                  <a:ea typeface="Arial"/>
                  <a:cs typeface="Arial"/>
                  <a:sym typeface="Arial"/>
                </a:rPr>
                <a:t>Sudden concept drift</a:t>
              </a:r>
            </a:p>
          </p:txBody>
        </p:sp>
      </p:grpSp>
      <p:grpSp>
        <p:nvGrpSpPr>
          <p:cNvPr name="Group 5" id="5"/>
          <p:cNvGrpSpPr>
            <a:grpSpLocks noChangeAspect="true"/>
          </p:cNvGrpSpPr>
          <p:nvPr/>
        </p:nvGrpSpPr>
        <p:grpSpPr>
          <a:xfrm rot="0">
            <a:off x="1989244" y="2491459"/>
            <a:ext cx="13789996" cy="4311989"/>
            <a:chOff x="0" y="0"/>
            <a:chExt cx="18386661" cy="5749319"/>
          </a:xfrm>
        </p:grpSpPr>
        <p:sp>
          <p:nvSpPr>
            <p:cNvPr name="Freeform 6" id="6"/>
            <p:cNvSpPr/>
            <p:nvPr/>
          </p:nvSpPr>
          <p:spPr>
            <a:xfrm flipH="false" flipV="false" rot="0">
              <a:off x="0" y="0"/>
              <a:ext cx="18386679" cy="5749290"/>
            </a:xfrm>
            <a:custGeom>
              <a:avLst/>
              <a:gdLst/>
              <a:ahLst/>
              <a:cxnLst/>
              <a:rect r="r" b="b" t="t" l="l"/>
              <a:pathLst>
                <a:path h="5749290" w="18386679">
                  <a:moveTo>
                    <a:pt x="0" y="0"/>
                  </a:moveTo>
                  <a:lnTo>
                    <a:pt x="18386679" y="0"/>
                  </a:lnTo>
                  <a:lnTo>
                    <a:pt x="18386679" y="5749290"/>
                  </a:lnTo>
                  <a:lnTo>
                    <a:pt x="0" y="5749290"/>
                  </a:lnTo>
                  <a:lnTo>
                    <a:pt x="0" y="0"/>
                  </a:lnTo>
                  <a:close/>
                </a:path>
              </a:pathLst>
            </a:custGeom>
            <a:blipFill>
              <a:blip r:embed="rId2"/>
              <a:stretch>
                <a:fillRect l="0" t="-6" r="0" b="-6"/>
              </a:stretch>
            </a:blipFill>
          </p:spPr>
        </p:sp>
      </p:gr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15243" y="396193"/>
            <a:ext cx="17440212" cy="4229100"/>
          </a:xfrm>
          <a:prstGeom prst="rect">
            <a:avLst/>
          </a:prstGeom>
        </p:spPr>
        <p:txBody>
          <a:bodyPr anchor="t" rtlCol="false" tIns="0" lIns="0" bIns="0" rIns="0">
            <a:spAutoFit/>
          </a:bodyPr>
          <a:lstStyle/>
          <a:p>
            <a:pPr algn="just">
              <a:lnSpc>
                <a:spcPts val="2615"/>
              </a:lnSpc>
            </a:pPr>
            <a:r>
              <a:rPr lang="en-US" sz="2179" spc="-1">
                <a:solidFill>
                  <a:srgbClr val="000000"/>
                </a:solidFill>
                <a:latin typeface="Arial"/>
                <a:ea typeface="Arial"/>
                <a:cs typeface="Arial"/>
                <a:sym typeface="Arial"/>
              </a:rPr>
              <a:t>External changes might be more sudden or drastic. These are hard to miss. As we shared in our recent post, the COVID-19 pandemic is a perfect example. Almost overnight, the mobility and shopping patterns shifted. It affected all sorts of models, even otherwise “stable” ones.</a:t>
            </a:r>
          </a:p>
          <a:p>
            <a:pPr algn="just">
              <a:lnSpc>
                <a:spcPts val="2615"/>
              </a:lnSpc>
            </a:pPr>
            <a:r>
              <a:rPr lang="en-US" sz="2179" spc="-1">
                <a:solidFill>
                  <a:srgbClr val="000000"/>
                </a:solidFill>
                <a:latin typeface="Arial"/>
                <a:ea typeface="Arial"/>
                <a:cs typeface="Arial"/>
                <a:sym typeface="Arial"/>
              </a:rPr>
              <a:t>Demand forecasting models would not guess that sales of yoga pants surge 350% (like it happened to Stitch Fix) or that most flights will be canceled as borders close.</a:t>
            </a:r>
          </a:p>
          <a:p>
            <a:pPr algn="just">
              <a:lnSpc>
                <a:spcPts val="2615"/>
              </a:lnSpc>
            </a:pPr>
          </a:p>
          <a:p>
            <a:pPr algn="just">
              <a:lnSpc>
                <a:spcPts val="2615"/>
              </a:lnSpc>
            </a:pPr>
          </a:p>
          <a:p>
            <a:pPr algn="just">
              <a:lnSpc>
                <a:spcPts val="2615"/>
              </a:lnSpc>
            </a:pPr>
          </a:p>
          <a:p>
            <a:pPr algn="just">
              <a:lnSpc>
                <a:spcPts val="2615"/>
              </a:lnSpc>
            </a:pPr>
          </a:p>
          <a:p>
            <a:pPr algn="just">
              <a:lnSpc>
                <a:spcPts val="2615"/>
              </a:lnSpc>
            </a:pPr>
            <a:r>
              <a:rPr lang="en-US" sz="2179" spc="-1">
                <a:solidFill>
                  <a:srgbClr val="000000"/>
                </a:solidFill>
                <a:latin typeface="Arial"/>
                <a:ea typeface="Arial"/>
                <a:cs typeface="Arial"/>
                <a:sym typeface="Arial"/>
              </a:rPr>
              <a:t>In a more ordinary course of events, you can experience things like:</a:t>
            </a:r>
          </a:p>
          <a:p>
            <a:pPr algn="just">
              <a:lnSpc>
                <a:spcPts val="2615"/>
              </a:lnSpc>
            </a:pPr>
            <a:r>
              <a:rPr lang="en-US" sz="2179" spc="-1">
                <a:solidFill>
                  <a:srgbClr val="000000"/>
                </a:solidFill>
                <a:latin typeface="Arial"/>
                <a:ea typeface="Arial"/>
                <a:cs typeface="Arial"/>
                <a:sym typeface="Arial"/>
              </a:rPr>
              <a:t>Change in the interest rate by the central bank. All financial and investment behavior is affected, and models fail to adapt to unseen patterns.</a:t>
            </a:r>
          </a:p>
          <a:p>
            <a:pPr algn="just">
              <a:lnSpc>
                <a:spcPts val="2615"/>
              </a:lnSpc>
            </a:pPr>
            <a:r>
              <a:rPr lang="en-US" sz="2179" spc="-1">
                <a:solidFill>
                  <a:srgbClr val="000000"/>
                </a:solidFill>
                <a:latin typeface="Arial"/>
                <a:ea typeface="Arial"/>
                <a:cs typeface="Arial"/>
                <a:sym typeface="Arial"/>
              </a:rPr>
              <a:t>Technical revamp of the production line. Predictive maintenance becomes obsolete since modified equipment has new failure modes (or lack of those).</a:t>
            </a:r>
          </a:p>
          <a:p>
            <a:pPr algn="just">
              <a:lnSpc>
                <a:spcPts val="2615"/>
              </a:lnSpc>
            </a:pPr>
            <a:r>
              <a:rPr lang="en-US" sz="2179" spc="-1">
                <a:solidFill>
                  <a:srgbClr val="000000"/>
                </a:solidFill>
                <a:latin typeface="Arial"/>
                <a:ea typeface="Arial"/>
                <a:cs typeface="Arial"/>
                <a:sym typeface="Arial"/>
              </a:rPr>
              <a:t>Major update in the app interface. Past data on clicks and conversion becomes irrelevant since the user journey is a new one.</a:t>
            </a:r>
          </a:p>
        </p:txBody>
      </p:sp>
      <p:grpSp>
        <p:nvGrpSpPr>
          <p:cNvPr name="Group 3" id="3"/>
          <p:cNvGrpSpPr>
            <a:grpSpLocks noChangeAspect="true"/>
          </p:cNvGrpSpPr>
          <p:nvPr/>
        </p:nvGrpSpPr>
        <p:grpSpPr>
          <a:xfrm rot="0">
            <a:off x="11693595" y="5781374"/>
            <a:ext cx="6180911" cy="3476926"/>
            <a:chOff x="0" y="0"/>
            <a:chExt cx="8241214" cy="4635901"/>
          </a:xfrm>
        </p:grpSpPr>
        <p:sp>
          <p:nvSpPr>
            <p:cNvPr name="Freeform 4" id="4"/>
            <p:cNvSpPr/>
            <p:nvPr/>
          </p:nvSpPr>
          <p:spPr>
            <a:xfrm flipH="false" flipV="false" rot="0">
              <a:off x="0" y="0"/>
              <a:ext cx="8241157" cy="4635881"/>
            </a:xfrm>
            <a:custGeom>
              <a:avLst/>
              <a:gdLst/>
              <a:ahLst/>
              <a:cxnLst/>
              <a:rect r="r" b="b" t="t" l="l"/>
              <a:pathLst>
                <a:path h="4635881" w="8241157">
                  <a:moveTo>
                    <a:pt x="0" y="0"/>
                  </a:moveTo>
                  <a:lnTo>
                    <a:pt x="8241157" y="0"/>
                  </a:lnTo>
                  <a:lnTo>
                    <a:pt x="8241157" y="4635881"/>
                  </a:lnTo>
                  <a:lnTo>
                    <a:pt x="0" y="4635881"/>
                  </a:lnTo>
                  <a:lnTo>
                    <a:pt x="0" y="0"/>
                  </a:lnTo>
                  <a:close/>
                </a:path>
              </a:pathLst>
            </a:custGeom>
            <a:blipFill>
              <a:blip r:embed="rId2"/>
              <a:stretch>
                <a:fillRect l="-2" t="0" r="-3" b="0"/>
              </a:stretch>
            </a:blipFill>
          </p:spPr>
        </p:sp>
      </p:grpSp>
    </p:spTree>
  </p:cSld>
  <p:clrMapOvr>
    <a:masterClrMapping/>
  </p:clrMapOvr>
  <p:transition spd="fast">
    <p:fade/>
  </p:transition>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5497" y="410666"/>
            <a:ext cx="16478286" cy="1719172"/>
            <a:chOff x="0" y="0"/>
            <a:chExt cx="21971049" cy="2292229"/>
          </a:xfrm>
        </p:grpSpPr>
        <p:sp>
          <p:nvSpPr>
            <p:cNvPr name="Freeform 3" id="3"/>
            <p:cNvSpPr/>
            <p:nvPr/>
          </p:nvSpPr>
          <p:spPr>
            <a:xfrm flipH="false" flipV="false" rot="0">
              <a:off x="0" y="0"/>
              <a:ext cx="21971048" cy="2292229"/>
            </a:xfrm>
            <a:custGeom>
              <a:avLst/>
              <a:gdLst/>
              <a:ahLst/>
              <a:cxnLst/>
              <a:rect r="r" b="b" t="t" l="l"/>
              <a:pathLst>
                <a:path h="2292229" w="21971048">
                  <a:moveTo>
                    <a:pt x="0" y="0"/>
                  </a:moveTo>
                  <a:lnTo>
                    <a:pt x="21971048" y="0"/>
                  </a:lnTo>
                  <a:lnTo>
                    <a:pt x="21971048" y="2292229"/>
                  </a:lnTo>
                  <a:lnTo>
                    <a:pt x="0" y="2292229"/>
                  </a:lnTo>
                  <a:close/>
                </a:path>
              </a:pathLst>
            </a:custGeom>
            <a:solidFill>
              <a:srgbClr val="000000">
                <a:alpha val="0"/>
              </a:srgbClr>
            </a:solidFill>
          </p:spPr>
        </p:sp>
        <p:sp>
          <p:nvSpPr>
            <p:cNvPr name="TextBox 4" id="4"/>
            <p:cNvSpPr txBox="true"/>
            <p:nvPr/>
          </p:nvSpPr>
          <p:spPr>
            <a:xfrm>
              <a:off x="0" y="-28575"/>
              <a:ext cx="21971049" cy="2320804"/>
            </a:xfrm>
            <a:prstGeom prst="rect">
              <a:avLst/>
            </a:prstGeom>
          </p:spPr>
          <p:txBody>
            <a:bodyPr anchor="ctr" rtlCol="false" tIns="0" lIns="0" bIns="0" rIns="0"/>
            <a:lstStyle/>
            <a:p>
              <a:pPr algn="ctr">
                <a:lnSpc>
                  <a:spcPts val="9590"/>
                </a:lnSpc>
              </a:pPr>
              <a:r>
                <a:rPr lang="en-US" sz="7992" spc="-1">
                  <a:solidFill>
                    <a:srgbClr val="000000"/>
                  </a:solidFill>
                  <a:latin typeface="Arial"/>
                  <a:ea typeface="Arial"/>
                  <a:cs typeface="Arial"/>
                  <a:sym typeface="Arial"/>
                </a:rPr>
                <a:t>Dealing with drift</a:t>
              </a:r>
            </a:p>
          </p:txBody>
        </p:sp>
      </p:grpSp>
      <p:sp>
        <p:nvSpPr>
          <p:cNvPr name="TextBox 5" id="5"/>
          <p:cNvSpPr txBox="true"/>
          <p:nvPr/>
        </p:nvSpPr>
        <p:spPr>
          <a:xfrm rot="0">
            <a:off x="915497" y="2390668"/>
            <a:ext cx="16478286" cy="5992012"/>
          </a:xfrm>
          <a:prstGeom prst="rect">
            <a:avLst/>
          </a:prstGeom>
        </p:spPr>
        <p:txBody>
          <a:bodyPr anchor="t" rtlCol="false" tIns="0" lIns="0" bIns="0" rIns="0">
            <a:spAutoFit/>
          </a:bodyPr>
          <a:lstStyle/>
          <a:p>
            <a:pPr algn="just">
              <a:lnSpc>
                <a:spcPts val="2327"/>
              </a:lnSpc>
            </a:pPr>
            <a:r>
              <a:rPr lang="en-US" sz="1939" spc="-1">
                <a:solidFill>
                  <a:srgbClr val="000000"/>
                </a:solidFill>
                <a:latin typeface="Arial"/>
                <a:ea typeface="Arial"/>
                <a:cs typeface="Arial"/>
                <a:sym typeface="Arial"/>
              </a:rPr>
              <a:t>In the case of </a:t>
            </a:r>
            <a:r>
              <a:rPr lang="en-US" b="true" sz="1939" spc="-1">
                <a:solidFill>
                  <a:srgbClr val="000000"/>
                </a:solidFill>
                <a:latin typeface="Arial Bold"/>
                <a:ea typeface="Arial Bold"/>
                <a:cs typeface="Arial Bold"/>
                <a:sym typeface="Arial Bold"/>
              </a:rPr>
              <a:t>radical shifts, models break. </a:t>
            </a:r>
            <a:r>
              <a:rPr lang="en-US" sz="1939" spc="-1">
                <a:solidFill>
                  <a:srgbClr val="000000"/>
                </a:solidFill>
                <a:latin typeface="Arial"/>
                <a:ea typeface="Arial"/>
                <a:cs typeface="Arial"/>
                <a:sym typeface="Arial"/>
              </a:rPr>
              <a:t>You might want to pause it until more data is collected. As a fallback strategy, you can use expert rules or heuristics.</a:t>
            </a:r>
          </a:p>
          <a:p>
            <a:pPr algn="just">
              <a:lnSpc>
                <a:spcPts val="2327"/>
              </a:lnSpc>
            </a:pPr>
            <a:r>
              <a:rPr lang="en-US" b="true" sz="1939" spc="-1">
                <a:solidFill>
                  <a:srgbClr val="000000"/>
                </a:solidFill>
                <a:latin typeface="Arial Bold"/>
                <a:ea typeface="Arial Bold"/>
                <a:cs typeface="Arial Bold"/>
                <a:sym typeface="Arial Bold"/>
              </a:rPr>
              <a:t>To get back on track, we need to retrain the model.</a:t>
            </a:r>
            <a:r>
              <a:rPr lang="en-US" sz="1939" spc="-1">
                <a:solidFill>
                  <a:srgbClr val="000000"/>
                </a:solidFill>
                <a:latin typeface="Arial"/>
                <a:ea typeface="Arial"/>
                <a:cs typeface="Arial"/>
                <a:sym typeface="Arial"/>
              </a:rPr>
              <a:t> Approaches vary:</a:t>
            </a:r>
          </a:p>
          <a:p>
            <a:pPr algn="just" marL="621337" indent="-310668" lvl="1">
              <a:lnSpc>
                <a:spcPts val="2327"/>
              </a:lnSpc>
              <a:buFont typeface="Arial"/>
              <a:buChar char="•"/>
            </a:pPr>
            <a:r>
              <a:rPr lang="en-US" sz="1939" spc="-1">
                <a:solidFill>
                  <a:srgbClr val="000000"/>
                </a:solidFill>
                <a:latin typeface="Arial"/>
                <a:ea typeface="Arial"/>
                <a:cs typeface="Arial"/>
                <a:sym typeface="Arial"/>
              </a:rPr>
              <a:t>Retrain the model using all available data, both before and after the change.</a:t>
            </a:r>
          </a:p>
          <a:p>
            <a:pPr algn="just" marL="621337" indent="-310668" lvl="1">
              <a:lnSpc>
                <a:spcPts val="2327"/>
              </a:lnSpc>
              <a:buFont typeface="Arial"/>
              <a:buChar char="•"/>
            </a:pPr>
            <a:r>
              <a:rPr lang="en-US" sz="1939" spc="-1">
                <a:solidFill>
                  <a:srgbClr val="000000"/>
                </a:solidFill>
                <a:latin typeface="Arial"/>
                <a:ea typeface="Arial"/>
                <a:cs typeface="Arial"/>
                <a:sym typeface="Arial"/>
              </a:rPr>
              <a:t>Use everything, but assign higher weights to the new data so that model gives priority to the recent patterns.</a:t>
            </a:r>
          </a:p>
          <a:p>
            <a:pPr algn="just" marL="621337" indent="-310668" lvl="1">
              <a:lnSpc>
                <a:spcPts val="2327"/>
              </a:lnSpc>
              <a:buFont typeface="Arial"/>
              <a:buChar char="•"/>
            </a:pPr>
            <a:r>
              <a:rPr lang="en-US" sz="1939" spc="-1">
                <a:solidFill>
                  <a:srgbClr val="000000"/>
                </a:solidFill>
                <a:latin typeface="Arial"/>
                <a:ea typeface="Arial"/>
                <a:cs typeface="Arial"/>
                <a:sym typeface="Arial"/>
              </a:rPr>
              <a:t>If enough new data is collected, we can simply drop the past.</a:t>
            </a:r>
          </a:p>
          <a:p>
            <a:pPr algn="just" marL="621337" indent="-310668" lvl="1">
              <a:lnSpc>
                <a:spcPts val="2327"/>
              </a:lnSpc>
            </a:pPr>
            <a:r>
              <a:rPr lang="en-US" sz="1939" spc="-1">
                <a:solidFill>
                  <a:srgbClr val="000000"/>
                </a:solidFill>
                <a:latin typeface="Arial"/>
                <a:ea typeface="Arial"/>
                <a:cs typeface="Arial"/>
                <a:sym typeface="Arial"/>
              </a:rPr>
              <a:t>“</a:t>
            </a:r>
            <a:r>
              <a:rPr lang="en-US" b="true" sz="1939" spc="-1">
                <a:solidFill>
                  <a:srgbClr val="000000"/>
                </a:solidFill>
                <a:latin typeface="Arial Bold"/>
                <a:ea typeface="Arial Bold"/>
                <a:cs typeface="Arial Bold"/>
                <a:sym typeface="Arial Bold"/>
              </a:rPr>
              <a:t>Naive</a:t>
            </a:r>
            <a:r>
              <a:rPr lang="en-US" sz="1939" spc="-1">
                <a:solidFill>
                  <a:srgbClr val="000000"/>
                </a:solidFill>
                <a:latin typeface="Arial"/>
                <a:ea typeface="Arial"/>
                <a:cs typeface="Arial"/>
                <a:sym typeface="Arial"/>
              </a:rPr>
              <a:t>” retraining is not always enough. If the problem has evolved, we might need to tune the model, not feed the latest data into the existing one.</a:t>
            </a:r>
          </a:p>
          <a:p>
            <a:pPr algn="just" marL="621337" indent="-310668" lvl="1">
              <a:lnSpc>
                <a:spcPts val="2327"/>
              </a:lnSpc>
            </a:pPr>
            <a:r>
              <a:rPr lang="en-US" sz="1939" spc="-1">
                <a:solidFill>
                  <a:srgbClr val="000000"/>
                </a:solidFill>
                <a:latin typeface="Arial"/>
                <a:ea typeface="Arial"/>
                <a:cs typeface="Arial"/>
                <a:sym typeface="Arial"/>
              </a:rPr>
              <a:t>Options include domain adaptation strategies, building a composition of models that use both old and new data, adding new data sources, or trying entirely new architectures.</a:t>
            </a:r>
          </a:p>
          <a:p>
            <a:pPr algn="just" marL="621337" indent="-310668" lvl="1">
              <a:lnSpc>
                <a:spcPts val="2327"/>
              </a:lnSpc>
            </a:pPr>
            <a:r>
              <a:rPr lang="en-US" b="true" sz="1939" spc="-1">
                <a:solidFill>
                  <a:srgbClr val="000000"/>
                </a:solidFill>
                <a:latin typeface="Arial Bold"/>
                <a:ea typeface="Arial Bold"/>
                <a:cs typeface="Arial Bold"/>
                <a:sym typeface="Arial Bold"/>
              </a:rPr>
              <a:t>Sometimes it’s best to modify the model scope or the business process.</a:t>
            </a:r>
            <a:r>
              <a:rPr lang="en-US" sz="1939" spc="-1">
                <a:solidFill>
                  <a:srgbClr val="000000"/>
                </a:solidFill>
                <a:latin typeface="Arial"/>
                <a:ea typeface="Arial"/>
                <a:cs typeface="Arial"/>
                <a:sym typeface="Arial"/>
              </a:rPr>
              <a:t> It can be shortening the prediction horizon or running the model more frequently. For example, retailers facing shifts in shopping habits might switch from weekly to daily demand forecast.</a:t>
            </a:r>
          </a:p>
          <a:p>
            <a:pPr algn="just" marL="621337" indent="-310668" lvl="1">
              <a:lnSpc>
                <a:spcPts val="2327"/>
              </a:lnSpc>
            </a:pPr>
            <a:r>
              <a:rPr lang="en-US" b="true" sz="1939" spc="-1">
                <a:solidFill>
                  <a:srgbClr val="000000"/>
                </a:solidFill>
                <a:latin typeface="Arial Bold"/>
                <a:ea typeface="Arial Bold"/>
                <a:cs typeface="Arial Bold"/>
                <a:sym typeface="Arial Bold"/>
              </a:rPr>
              <a:t>Communication matters, too.</a:t>
            </a:r>
            <a:r>
              <a:rPr lang="en-US" sz="1939" spc="-1">
                <a:solidFill>
                  <a:srgbClr val="000000"/>
                </a:solidFill>
                <a:latin typeface="Arial"/>
                <a:ea typeface="Arial"/>
                <a:cs typeface="Arial"/>
                <a:sym typeface="Arial"/>
              </a:rPr>
              <a:t> Like with interface updates, changes can come from inside the business. Here, you need to align business owners and model maintainers. An early warning will help you prepare the model for a new cold start.</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5497" y="410666"/>
            <a:ext cx="16478286" cy="1719172"/>
            <a:chOff x="0" y="0"/>
            <a:chExt cx="21971049" cy="2292229"/>
          </a:xfrm>
        </p:grpSpPr>
        <p:sp>
          <p:nvSpPr>
            <p:cNvPr name="Freeform 3" id="3"/>
            <p:cNvSpPr/>
            <p:nvPr/>
          </p:nvSpPr>
          <p:spPr>
            <a:xfrm flipH="false" flipV="false" rot="0">
              <a:off x="0" y="0"/>
              <a:ext cx="21971048" cy="2292229"/>
            </a:xfrm>
            <a:custGeom>
              <a:avLst/>
              <a:gdLst/>
              <a:ahLst/>
              <a:cxnLst/>
              <a:rect r="r" b="b" t="t" l="l"/>
              <a:pathLst>
                <a:path h="2292229" w="21971048">
                  <a:moveTo>
                    <a:pt x="0" y="0"/>
                  </a:moveTo>
                  <a:lnTo>
                    <a:pt x="21971048" y="0"/>
                  </a:lnTo>
                  <a:lnTo>
                    <a:pt x="21971048" y="2292229"/>
                  </a:lnTo>
                  <a:lnTo>
                    <a:pt x="0" y="2292229"/>
                  </a:lnTo>
                  <a:close/>
                </a:path>
              </a:pathLst>
            </a:custGeom>
            <a:solidFill>
              <a:srgbClr val="000000">
                <a:alpha val="0"/>
              </a:srgbClr>
            </a:solidFill>
          </p:spPr>
        </p:sp>
        <p:sp>
          <p:nvSpPr>
            <p:cNvPr name="TextBox 4" id="4"/>
            <p:cNvSpPr txBox="true"/>
            <p:nvPr/>
          </p:nvSpPr>
          <p:spPr>
            <a:xfrm>
              <a:off x="0" y="-28575"/>
              <a:ext cx="21971049" cy="2320804"/>
            </a:xfrm>
            <a:prstGeom prst="rect">
              <a:avLst/>
            </a:prstGeom>
          </p:spPr>
          <p:txBody>
            <a:bodyPr anchor="ctr" rtlCol="false" tIns="0" lIns="0" bIns="0" rIns="0"/>
            <a:lstStyle/>
            <a:p>
              <a:pPr algn="ctr">
                <a:lnSpc>
                  <a:spcPts val="9590"/>
                </a:lnSpc>
              </a:pPr>
              <a:r>
                <a:rPr lang="en-US" sz="7992" spc="-1">
                  <a:solidFill>
                    <a:srgbClr val="000000"/>
                  </a:solidFill>
                  <a:latin typeface="Arial"/>
                  <a:ea typeface="Arial"/>
                  <a:cs typeface="Arial"/>
                  <a:sym typeface="Arial"/>
                </a:rPr>
                <a:t>Recurring concept drift</a:t>
              </a:r>
            </a:p>
          </p:txBody>
        </p:sp>
      </p:grpSp>
      <p:grpSp>
        <p:nvGrpSpPr>
          <p:cNvPr name="Group 5" id="5"/>
          <p:cNvGrpSpPr>
            <a:grpSpLocks noChangeAspect="true"/>
          </p:cNvGrpSpPr>
          <p:nvPr/>
        </p:nvGrpSpPr>
        <p:grpSpPr>
          <a:xfrm rot="0">
            <a:off x="1989244" y="2331901"/>
            <a:ext cx="13789996" cy="4311989"/>
            <a:chOff x="0" y="0"/>
            <a:chExt cx="18386661" cy="5749319"/>
          </a:xfrm>
        </p:grpSpPr>
        <p:sp>
          <p:nvSpPr>
            <p:cNvPr name="Freeform 6" id="6"/>
            <p:cNvSpPr/>
            <p:nvPr/>
          </p:nvSpPr>
          <p:spPr>
            <a:xfrm flipH="false" flipV="false" rot="0">
              <a:off x="0" y="0"/>
              <a:ext cx="18386679" cy="5749290"/>
            </a:xfrm>
            <a:custGeom>
              <a:avLst/>
              <a:gdLst/>
              <a:ahLst/>
              <a:cxnLst/>
              <a:rect r="r" b="b" t="t" l="l"/>
              <a:pathLst>
                <a:path h="5749290" w="18386679">
                  <a:moveTo>
                    <a:pt x="0" y="0"/>
                  </a:moveTo>
                  <a:lnTo>
                    <a:pt x="18386679" y="0"/>
                  </a:lnTo>
                  <a:lnTo>
                    <a:pt x="18386679" y="5749290"/>
                  </a:lnTo>
                  <a:lnTo>
                    <a:pt x="0" y="5749290"/>
                  </a:lnTo>
                  <a:lnTo>
                    <a:pt x="0" y="0"/>
                  </a:lnTo>
                  <a:close/>
                </a:path>
              </a:pathLst>
            </a:custGeom>
            <a:blipFill>
              <a:blip r:embed="rId2"/>
              <a:stretch>
                <a:fillRect l="0" t="-6" r="0" b="-6"/>
              </a:stretch>
            </a:blipFill>
          </p:spPr>
        </p:sp>
      </p:gr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15243" y="396193"/>
            <a:ext cx="10796322" cy="9569642"/>
          </a:xfrm>
          <a:prstGeom prst="rect">
            <a:avLst/>
          </a:prstGeom>
        </p:spPr>
        <p:txBody>
          <a:bodyPr anchor="t" rtlCol="false" tIns="0" lIns="0" bIns="0" rIns="0">
            <a:spAutoFit/>
          </a:bodyPr>
          <a:lstStyle/>
          <a:p>
            <a:pPr algn="l">
              <a:lnSpc>
                <a:spcPts val="2615"/>
              </a:lnSpc>
            </a:pPr>
            <a:r>
              <a:rPr lang="en-US" sz="2179" spc="-1">
                <a:solidFill>
                  <a:srgbClr val="000000"/>
                </a:solidFill>
                <a:latin typeface="Arial"/>
                <a:ea typeface="Arial"/>
                <a:cs typeface="Arial"/>
                <a:sym typeface="Arial"/>
              </a:rPr>
              <a:t>Seasonality is a known modeling concept. It indeed looks like (and it is) a temporary change in the target function.</a:t>
            </a:r>
          </a:p>
          <a:p>
            <a:pPr algn="l">
              <a:lnSpc>
                <a:spcPts val="2615"/>
              </a:lnSpc>
            </a:pPr>
          </a:p>
          <a:p>
            <a:pPr algn="l">
              <a:lnSpc>
                <a:spcPts val="2615"/>
              </a:lnSpc>
            </a:pPr>
            <a:r>
              <a:rPr lang="en-US" sz="2179" spc="-1">
                <a:solidFill>
                  <a:srgbClr val="000000"/>
                </a:solidFill>
                <a:latin typeface="Arial"/>
                <a:ea typeface="Arial"/>
                <a:cs typeface="Arial"/>
                <a:sym typeface="Arial"/>
              </a:rPr>
              <a:t>The same people that shop modestly during the year show unusual patterns on Black Fridays. Bank holidays affect everything, from retail sales to production failures. Mobility on the weekend is different from business days. And so on.</a:t>
            </a:r>
          </a:p>
          <a:p>
            <a:pPr algn="l">
              <a:lnSpc>
                <a:spcPts val="2615"/>
              </a:lnSpc>
            </a:pPr>
          </a:p>
          <a:p>
            <a:pPr algn="l">
              <a:lnSpc>
                <a:spcPts val="2615"/>
              </a:lnSpc>
            </a:pPr>
            <a:r>
              <a:rPr lang="en-US" sz="2179" spc="-1">
                <a:solidFill>
                  <a:srgbClr val="000000"/>
                </a:solidFill>
                <a:latin typeface="Arial"/>
                <a:ea typeface="Arial"/>
                <a:cs typeface="Arial"/>
                <a:sym typeface="Arial"/>
              </a:rPr>
              <a:t>From the point of model monitoring, this “drift” has no importance. Weekends happen every week, and we don’t need an alert. Unless we see a new pattern, of course.</a:t>
            </a:r>
          </a:p>
          <a:p>
            <a:pPr algn="l">
              <a:lnSpc>
                <a:spcPts val="2615"/>
              </a:lnSpc>
            </a:pPr>
          </a:p>
          <a:p>
            <a:pPr algn="l">
              <a:lnSpc>
                <a:spcPts val="2615"/>
              </a:lnSpc>
            </a:pPr>
            <a:r>
              <a:rPr lang="en-US" sz="2179" spc="-1">
                <a:solidFill>
                  <a:srgbClr val="000000"/>
                </a:solidFill>
                <a:latin typeface="Arial"/>
                <a:ea typeface="Arial"/>
                <a:cs typeface="Arial"/>
                <a:sym typeface="Arial"/>
              </a:rPr>
              <a:t>How to treat this not-exactly-drift in production?</a:t>
            </a:r>
          </a:p>
          <a:p>
            <a:pPr algn="l">
              <a:lnSpc>
                <a:spcPts val="2615"/>
              </a:lnSpc>
            </a:pPr>
            <a:r>
              <a:rPr lang="en-US" b="true" sz="2179" spc="-1">
                <a:solidFill>
                  <a:srgbClr val="000000"/>
                </a:solidFill>
                <a:latin typeface="Arial Bold"/>
                <a:ea typeface="Arial Bold"/>
                <a:cs typeface="Arial Bold"/>
                <a:sym typeface="Arial Bold"/>
              </a:rPr>
              <a:t>Teach your model the seasonality.</a:t>
            </a:r>
          </a:p>
          <a:p>
            <a:pPr algn="l">
              <a:lnSpc>
                <a:spcPts val="2615"/>
              </a:lnSpc>
            </a:pPr>
            <a:r>
              <a:rPr lang="en-US" sz="2179" spc="-1">
                <a:solidFill>
                  <a:srgbClr val="000000"/>
                </a:solidFill>
                <a:latin typeface="Arial"/>
                <a:ea typeface="Arial"/>
                <a:cs typeface="Arial"/>
                <a:sym typeface="Arial"/>
              </a:rPr>
              <a:t>If it first sees some special events or seasons in production, you can use other similar events as examples. For instance, if a new bank holiday is introduced, you can assume a similarity with a known one.</a:t>
            </a:r>
          </a:p>
        </p:txBody>
      </p:sp>
      <p:grpSp>
        <p:nvGrpSpPr>
          <p:cNvPr name="Group 3" id="3"/>
          <p:cNvGrpSpPr>
            <a:grpSpLocks noChangeAspect="true"/>
          </p:cNvGrpSpPr>
          <p:nvPr/>
        </p:nvGrpSpPr>
        <p:grpSpPr>
          <a:xfrm rot="0">
            <a:off x="11259301" y="415243"/>
            <a:ext cx="6596154" cy="3710377"/>
            <a:chOff x="0" y="0"/>
            <a:chExt cx="8794872" cy="4947170"/>
          </a:xfrm>
        </p:grpSpPr>
        <p:sp>
          <p:nvSpPr>
            <p:cNvPr name="Freeform 4" id="4"/>
            <p:cNvSpPr/>
            <p:nvPr/>
          </p:nvSpPr>
          <p:spPr>
            <a:xfrm flipH="false" flipV="false" rot="0">
              <a:off x="0" y="0"/>
              <a:ext cx="8794877" cy="4947158"/>
            </a:xfrm>
            <a:custGeom>
              <a:avLst/>
              <a:gdLst/>
              <a:ahLst/>
              <a:cxnLst/>
              <a:rect r="r" b="b" t="t" l="l"/>
              <a:pathLst>
                <a:path h="4947158" w="8794877">
                  <a:moveTo>
                    <a:pt x="0" y="0"/>
                  </a:moveTo>
                  <a:lnTo>
                    <a:pt x="8794877" y="0"/>
                  </a:lnTo>
                  <a:lnTo>
                    <a:pt x="8794877" y="4947158"/>
                  </a:lnTo>
                  <a:lnTo>
                    <a:pt x="0" y="4947158"/>
                  </a:lnTo>
                  <a:lnTo>
                    <a:pt x="0" y="0"/>
                  </a:lnTo>
                  <a:close/>
                </a:path>
              </a:pathLst>
            </a:custGeom>
            <a:blipFill>
              <a:blip r:embed="rId2"/>
              <a:stretch>
                <a:fillRect l="0" t="0" r="0" b="0"/>
              </a:stretch>
            </a:blipFill>
          </p:spPr>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DAG52fcbCIk</dc:identifier>
  <dcterms:modified xsi:type="dcterms:W3CDTF">2011-08-01T06:04:30Z</dcterms:modified>
  <cp:revision>1</cp:revision>
  <dc:title>Data_Concept_Drift.pptx</dc:title>
</cp:coreProperties>
</file>