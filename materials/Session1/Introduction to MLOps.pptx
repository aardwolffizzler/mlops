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nter Semi-Bold" charset="1" panose="02000503000000020004"/>
      <p:regular r:id="rId21"/>
    </p:embeddedFont>
    <p:embeddedFont>
      <p:font typeface="Inter Light" charset="1" panose="02000503000000020004"/>
      <p:regular r:id="rId22"/>
    </p:embeddedFont>
    <p:embeddedFont>
      <p:font typeface="Inter" charset="1" panose="020B0502030000000004"/>
      <p:regular r:id="rId23"/>
    </p:embeddedFont>
    <p:embeddedFont>
      <p:font typeface="Inter Bold" charset="1" panose="020B0802030000000004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arxiv.org/pdf/2403.16795v1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en.wikipedia.org/wiki/Continuous_integration" TargetMode="External" Type="http://schemas.openxmlformats.org/officeDocument/2006/relationships/hyperlink"/><Relationship Id="rId5" Target="https://en.wikipedia.org/wiki/Continuous_integration" TargetMode="External" Type="http://schemas.openxmlformats.org/officeDocument/2006/relationships/hyperlink"/><Relationship Id="rId6" Target="https://en.wikipedia.org/wiki/Continuous_delivery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3672683" y="3205124"/>
            <a:ext cx="10730064" cy="3876752"/>
            <a:chOff x="0" y="0"/>
            <a:chExt cx="3845413" cy="13893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1389340"/>
            </a:xfrm>
            <a:custGeom>
              <a:avLst/>
              <a:gdLst/>
              <a:ahLst/>
              <a:cxnLst/>
              <a:rect r="r" b="b" t="t" l="l"/>
              <a:pathLst>
                <a:path h="1389340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1389340"/>
                  </a:lnTo>
                  <a:lnTo>
                    <a:pt x="0" y="138934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1436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04915" y="4137029"/>
            <a:ext cx="10531049" cy="100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24"/>
              </a:lnSpc>
            </a:pPr>
            <a:r>
              <a:rPr lang="en-US" sz="8499" spc="-637" b="true">
                <a:solidFill>
                  <a:srgbClr val="403E3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Introduction to MLOps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156534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114440" y="5231197"/>
            <a:ext cx="6213575" cy="62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pc="-270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YOUSSEF HAMED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41956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098740" y="3520414"/>
            <a:ext cx="10614447" cy="27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spc="-23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WHAT MLOPS IS 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spc="-23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WHY MLOPS EXISTS 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spc="-23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HOW IT DIFFERS FROM TRADITIONAL DEVOPS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 spc="-239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REAL REASONS ML PROJECTS FAIL IN PRODUCTION</a:t>
            </a:r>
          </a:p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5400000">
            <a:off x="-3675771" y="3208211"/>
            <a:ext cx="10730064" cy="3870578"/>
            <a:chOff x="0" y="0"/>
            <a:chExt cx="3845413" cy="13871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45413" cy="1387128"/>
            </a:xfrm>
            <a:custGeom>
              <a:avLst/>
              <a:gdLst/>
              <a:ahLst/>
              <a:cxnLst/>
              <a:rect r="r" b="b" t="t" l="l"/>
              <a:pathLst>
                <a:path h="1387128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1387128"/>
                  </a:lnTo>
                  <a:lnTo>
                    <a:pt x="0" y="138712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845413" cy="14347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150360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5397" y="3647456"/>
            <a:ext cx="15336508" cy="6224318"/>
          </a:xfrm>
          <a:custGeom>
            <a:avLst/>
            <a:gdLst/>
            <a:ahLst/>
            <a:cxnLst/>
            <a:rect r="r" b="b" t="t" l="l"/>
            <a:pathLst>
              <a:path h="6224318" w="15336508">
                <a:moveTo>
                  <a:pt x="0" y="0"/>
                </a:moveTo>
                <a:lnTo>
                  <a:pt x="15336508" y="0"/>
                </a:lnTo>
                <a:lnTo>
                  <a:pt x="15336508" y="6224317"/>
                </a:lnTo>
                <a:lnTo>
                  <a:pt x="0" y="6224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03" t="-5406" r="0" b="-1242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9748" y="808895"/>
            <a:ext cx="5244186" cy="630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81"/>
              </a:lnSpc>
              <a:spcBef>
                <a:spcPct val="0"/>
              </a:spcBef>
            </a:pPr>
            <a:r>
              <a:rPr lang="en-US" sz="5390" spc="-404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WHA</a:t>
            </a:r>
            <a:r>
              <a:rPr lang="en-US" sz="5390" spc="-404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 I</a:t>
            </a:r>
            <a:r>
              <a:rPr lang="en-US" sz="5390" spc="-404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 MLOPS 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163" y="1805320"/>
            <a:ext cx="9119458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spc="-4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DISCIPLINE FOR MANAGING DATA + C</a:t>
            </a:r>
            <a:r>
              <a:rPr lang="en-US" sz="2099" spc="-4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ODE + MODELS</a:t>
            </a:r>
          </a:p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spc="-4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AUTOMATES ML LIFECYCLE</a:t>
            </a:r>
          </a:p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spc="-4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ENSURES REPRODUCIBILITY, SCALABILITY, RELIABILITY</a:t>
            </a:r>
          </a:p>
          <a:p>
            <a:pPr algn="l" marL="453388" indent="-226694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spc="-46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INSPIRED BY DEVOPS, BUT ADAPTED FOR ML NEEDS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4646682" y="4221897"/>
            <a:ext cx="10730064" cy="1843205"/>
            <a:chOff x="0" y="0"/>
            <a:chExt cx="3845413" cy="6605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660563"/>
            </a:xfrm>
            <a:custGeom>
              <a:avLst/>
              <a:gdLst/>
              <a:ahLst/>
              <a:cxnLst/>
              <a:rect r="r" b="b" t="t" l="l"/>
              <a:pathLst>
                <a:path h="660563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660563"/>
                  </a:lnTo>
                  <a:lnTo>
                    <a:pt x="0" y="660563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708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65762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078620" y="673117"/>
            <a:ext cx="10130760" cy="2445431"/>
          </a:xfrm>
          <a:custGeom>
            <a:avLst/>
            <a:gdLst/>
            <a:ahLst/>
            <a:cxnLst/>
            <a:rect r="r" b="b" t="t" l="l"/>
            <a:pathLst>
              <a:path h="2445431" w="10130760">
                <a:moveTo>
                  <a:pt x="0" y="0"/>
                </a:moveTo>
                <a:lnTo>
                  <a:pt x="10130760" y="0"/>
                </a:lnTo>
                <a:lnTo>
                  <a:pt x="10130760" y="2445431"/>
                </a:lnTo>
                <a:lnTo>
                  <a:pt x="0" y="24454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046888" y="3877846"/>
            <a:ext cx="4788804" cy="2036826"/>
            <a:chOff x="0" y="0"/>
            <a:chExt cx="985351" cy="419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5351" cy="419100"/>
            </a:xfrm>
            <a:custGeom>
              <a:avLst/>
              <a:gdLst/>
              <a:ahLst/>
              <a:cxnLst/>
              <a:rect r="r" b="b" t="t" l="l"/>
              <a:pathLst>
                <a:path h="419100" w="985351">
                  <a:moveTo>
                    <a:pt x="31576" y="0"/>
                  </a:moveTo>
                  <a:lnTo>
                    <a:pt x="953775" y="0"/>
                  </a:lnTo>
                  <a:cubicBezTo>
                    <a:pt x="971214" y="0"/>
                    <a:pt x="985351" y="14137"/>
                    <a:pt x="985351" y="31576"/>
                  </a:cubicBezTo>
                  <a:lnTo>
                    <a:pt x="985351" y="387524"/>
                  </a:lnTo>
                  <a:cubicBezTo>
                    <a:pt x="985351" y="395899"/>
                    <a:pt x="982024" y="403930"/>
                    <a:pt x="976102" y="409852"/>
                  </a:cubicBezTo>
                  <a:cubicBezTo>
                    <a:pt x="970181" y="415773"/>
                    <a:pt x="962150" y="419100"/>
                    <a:pt x="953775" y="419100"/>
                  </a:cubicBezTo>
                  <a:lnTo>
                    <a:pt x="31576" y="419100"/>
                  </a:lnTo>
                  <a:cubicBezTo>
                    <a:pt x="23201" y="419100"/>
                    <a:pt x="15170" y="415773"/>
                    <a:pt x="9248" y="409852"/>
                  </a:cubicBezTo>
                  <a:cubicBezTo>
                    <a:pt x="3327" y="403930"/>
                    <a:pt x="0" y="395899"/>
                    <a:pt x="0" y="387524"/>
                  </a:cubicBezTo>
                  <a:lnTo>
                    <a:pt x="0" y="31576"/>
                  </a:lnTo>
                  <a:cubicBezTo>
                    <a:pt x="0" y="23201"/>
                    <a:pt x="3327" y="15170"/>
                    <a:pt x="9248" y="9248"/>
                  </a:cubicBezTo>
                  <a:cubicBezTo>
                    <a:pt x="15170" y="3327"/>
                    <a:pt x="23201" y="0"/>
                    <a:pt x="315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DE59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85351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513590" y="1554521"/>
            <a:ext cx="9260819" cy="606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MLOPS = </a:t>
            </a:r>
            <a:r>
              <a:rPr lang="en-US" b="true" sz="35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DataOPS</a:t>
            </a:r>
            <a:r>
              <a:rPr lang="en-US" sz="3500" b="true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+</a:t>
            </a:r>
            <a:r>
              <a:rPr lang="en-US" sz="3500" b="true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35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DevOPS</a:t>
            </a:r>
            <a:r>
              <a:rPr lang="en-US" sz="3500" b="true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3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+</a:t>
            </a:r>
            <a:r>
              <a:rPr lang="en-US" sz="3500" b="true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3500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ModelOPS</a:t>
            </a:r>
            <a:r>
              <a:rPr lang="en-US" sz="3500" b="true">
                <a:solidFill>
                  <a:srgbClr val="FF3131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46888" y="4252369"/>
            <a:ext cx="4320629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RELIABLE DATA PIPELINES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validati</a:t>
            </a: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 &amp; QUALITY CHECKS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FEATURE ENGINEERING AUTOMATION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VERSIONING (DVC, DELTA, ETC.)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38553" y="6480747"/>
            <a:ext cx="4560014" cy="2036826"/>
            <a:chOff x="0" y="0"/>
            <a:chExt cx="938274" cy="419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8274" cy="419100"/>
            </a:xfrm>
            <a:custGeom>
              <a:avLst/>
              <a:gdLst/>
              <a:ahLst/>
              <a:cxnLst/>
              <a:rect r="r" b="b" t="t" l="l"/>
              <a:pathLst>
                <a:path h="419100" w="938274">
                  <a:moveTo>
                    <a:pt x="33160" y="0"/>
                  </a:moveTo>
                  <a:lnTo>
                    <a:pt x="905115" y="0"/>
                  </a:lnTo>
                  <a:cubicBezTo>
                    <a:pt x="923428" y="0"/>
                    <a:pt x="938274" y="14846"/>
                    <a:pt x="938274" y="33160"/>
                  </a:cubicBezTo>
                  <a:lnTo>
                    <a:pt x="938274" y="385940"/>
                  </a:lnTo>
                  <a:cubicBezTo>
                    <a:pt x="938274" y="394735"/>
                    <a:pt x="934781" y="403169"/>
                    <a:pt x="928562" y="409388"/>
                  </a:cubicBezTo>
                  <a:cubicBezTo>
                    <a:pt x="922343" y="415606"/>
                    <a:pt x="913909" y="419100"/>
                    <a:pt x="905115" y="419100"/>
                  </a:cubicBezTo>
                  <a:lnTo>
                    <a:pt x="33160" y="419100"/>
                  </a:lnTo>
                  <a:cubicBezTo>
                    <a:pt x="24365" y="419100"/>
                    <a:pt x="15931" y="415606"/>
                    <a:pt x="9712" y="409388"/>
                  </a:cubicBezTo>
                  <a:cubicBezTo>
                    <a:pt x="3494" y="403169"/>
                    <a:pt x="0" y="394735"/>
                    <a:pt x="0" y="385940"/>
                  </a:cubicBezTo>
                  <a:lnTo>
                    <a:pt x="0" y="33160"/>
                  </a:lnTo>
                  <a:cubicBezTo>
                    <a:pt x="0" y="24365"/>
                    <a:pt x="3494" y="15931"/>
                    <a:pt x="9712" y="9712"/>
                  </a:cubicBezTo>
                  <a:cubicBezTo>
                    <a:pt x="15931" y="3494"/>
                    <a:pt x="24365" y="0"/>
                    <a:pt x="331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5CE1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3827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938553" y="6855270"/>
            <a:ext cx="441089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CI/CD F</a:t>
            </a: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 ML CODE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CONTAINERIZATION (DOCKER)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INFRASTRUCTURE AUTOMATION (K8S)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REPRODUCIBLE ENVIRONMENTS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588263" y="3877846"/>
            <a:ext cx="4971837" cy="2036826"/>
            <a:chOff x="0" y="0"/>
            <a:chExt cx="1023012" cy="419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3012" cy="419100"/>
            </a:xfrm>
            <a:custGeom>
              <a:avLst/>
              <a:gdLst/>
              <a:ahLst/>
              <a:cxnLst/>
              <a:rect r="r" b="b" t="t" l="l"/>
              <a:pathLst>
                <a:path h="419100" w="1023012">
                  <a:moveTo>
                    <a:pt x="30413" y="0"/>
                  </a:moveTo>
                  <a:lnTo>
                    <a:pt x="992599" y="0"/>
                  </a:lnTo>
                  <a:cubicBezTo>
                    <a:pt x="1000665" y="0"/>
                    <a:pt x="1008400" y="3204"/>
                    <a:pt x="1014104" y="8908"/>
                  </a:cubicBezTo>
                  <a:cubicBezTo>
                    <a:pt x="1019807" y="14611"/>
                    <a:pt x="1023012" y="22347"/>
                    <a:pt x="1023012" y="30413"/>
                  </a:cubicBezTo>
                  <a:lnTo>
                    <a:pt x="1023012" y="388687"/>
                  </a:lnTo>
                  <a:cubicBezTo>
                    <a:pt x="1023012" y="396753"/>
                    <a:pt x="1019807" y="404489"/>
                    <a:pt x="1014104" y="410192"/>
                  </a:cubicBezTo>
                  <a:cubicBezTo>
                    <a:pt x="1008400" y="415896"/>
                    <a:pt x="1000665" y="419100"/>
                    <a:pt x="992599" y="419100"/>
                  </a:cubicBezTo>
                  <a:lnTo>
                    <a:pt x="30413" y="419100"/>
                  </a:lnTo>
                  <a:cubicBezTo>
                    <a:pt x="22347" y="419100"/>
                    <a:pt x="14611" y="415896"/>
                    <a:pt x="8908" y="410192"/>
                  </a:cubicBezTo>
                  <a:cubicBezTo>
                    <a:pt x="3204" y="404489"/>
                    <a:pt x="0" y="396753"/>
                    <a:pt x="0" y="388687"/>
                  </a:cubicBezTo>
                  <a:lnTo>
                    <a:pt x="0" y="30413"/>
                  </a:lnTo>
                  <a:cubicBezTo>
                    <a:pt x="0" y="22347"/>
                    <a:pt x="3204" y="14611"/>
                    <a:pt x="8908" y="8908"/>
                  </a:cubicBezTo>
                  <a:cubicBezTo>
                    <a:pt x="14611" y="3204"/>
                    <a:pt x="22347" y="0"/>
                    <a:pt x="304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100000"/>
                  </a:srgbClr>
                </a:gs>
                <a:gs pos="100000">
                  <a:srgbClr val="FFDE59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23012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588263" y="4252369"/>
            <a:ext cx="479746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EXPE</a:t>
            </a: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RIMENT TRACKING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REGISTRY &amp; VERSION CONTROL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DEPLOYMENT STRATEGIES (A/B, CANARY)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pc="-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MONITORING &amp; RETRAINING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4393796" y="3926237"/>
            <a:ext cx="10730064" cy="2434526"/>
            <a:chOff x="0" y="0"/>
            <a:chExt cx="3845413" cy="872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872479"/>
            </a:xfrm>
            <a:custGeom>
              <a:avLst/>
              <a:gdLst/>
              <a:ahLst/>
              <a:cxnLst/>
              <a:rect r="r" b="b" t="t" l="l"/>
              <a:pathLst>
                <a:path h="872479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872479"/>
                  </a:lnTo>
                  <a:lnTo>
                    <a:pt x="0" y="872479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920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14308" y="849998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40741" y="2532286"/>
            <a:ext cx="12606519" cy="5222427"/>
          </a:xfrm>
          <a:custGeom>
            <a:avLst/>
            <a:gdLst/>
            <a:ahLst/>
            <a:cxnLst/>
            <a:rect r="r" b="b" t="t" l="l"/>
            <a:pathLst>
              <a:path h="5222427" w="12606519">
                <a:moveTo>
                  <a:pt x="0" y="0"/>
                </a:moveTo>
                <a:lnTo>
                  <a:pt x="12606518" y="0"/>
                </a:lnTo>
                <a:lnTo>
                  <a:pt x="12606518" y="5222428"/>
                </a:lnTo>
                <a:lnTo>
                  <a:pt x="0" y="52224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7877" y="1917797"/>
            <a:ext cx="1263260" cy="1263260"/>
          </a:xfrm>
          <a:custGeom>
            <a:avLst/>
            <a:gdLst/>
            <a:ahLst/>
            <a:cxnLst/>
            <a:rect r="r" b="b" t="t" l="l"/>
            <a:pathLst>
              <a:path h="1263260" w="1263260">
                <a:moveTo>
                  <a:pt x="0" y="0"/>
                </a:moveTo>
                <a:lnTo>
                  <a:pt x="1263260" y="0"/>
                </a:lnTo>
                <a:lnTo>
                  <a:pt x="1263260" y="1263260"/>
                </a:lnTo>
                <a:lnTo>
                  <a:pt x="0" y="1263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85473" y="7880645"/>
            <a:ext cx="1377655" cy="1377655"/>
          </a:xfrm>
          <a:custGeom>
            <a:avLst/>
            <a:gdLst/>
            <a:ahLst/>
            <a:cxnLst/>
            <a:rect r="r" b="b" t="t" l="l"/>
            <a:pathLst>
              <a:path h="1377655" w="1377655">
                <a:moveTo>
                  <a:pt x="0" y="0"/>
                </a:moveTo>
                <a:lnTo>
                  <a:pt x="1377655" y="0"/>
                </a:lnTo>
                <a:lnTo>
                  <a:pt x="1377655" y="1377655"/>
                </a:lnTo>
                <a:lnTo>
                  <a:pt x="0" y="1377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85473" y="4945317"/>
            <a:ext cx="1263260" cy="1263260"/>
          </a:xfrm>
          <a:custGeom>
            <a:avLst/>
            <a:gdLst/>
            <a:ahLst/>
            <a:cxnLst/>
            <a:rect r="r" b="b" t="t" l="l"/>
            <a:pathLst>
              <a:path h="1263260" w="1263260">
                <a:moveTo>
                  <a:pt x="0" y="0"/>
                </a:moveTo>
                <a:lnTo>
                  <a:pt x="1263260" y="0"/>
                </a:lnTo>
                <a:lnTo>
                  <a:pt x="1263260" y="1263260"/>
                </a:lnTo>
                <a:lnTo>
                  <a:pt x="0" y="1263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85473" y="1917797"/>
            <a:ext cx="1263260" cy="1263260"/>
          </a:xfrm>
          <a:custGeom>
            <a:avLst/>
            <a:gdLst/>
            <a:ahLst/>
            <a:cxnLst/>
            <a:rect r="r" b="b" t="t" l="l"/>
            <a:pathLst>
              <a:path h="1263260" w="1263260">
                <a:moveTo>
                  <a:pt x="0" y="0"/>
                </a:moveTo>
                <a:lnTo>
                  <a:pt x="1263260" y="0"/>
                </a:lnTo>
                <a:lnTo>
                  <a:pt x="1263260" y="1263260"/>
                </a:lnTo>
                <a:lnTo>
                  <a:pt x="0" y="12632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7877" y="7995040"/>
            <a:ext cx="1263260" cy="1263260"/>
          </a:xfrm>
          <a:custGeom>
            <a:avLst/>
            <a:gdLst/>
            <a:ahLst/>
            <a:cxnLst/>
            <a:rect r="r" b="b" t="t" l="l"/>
            <a:pathLst>
              <a:path h="1263260" w="1263260">
                <a:moveTo>
                  <a:pt x="0" y="0"/>
                </a:moveTo>
                <a:lnTo>
                  <a:pt x="1263260" y="0"/>
                </a:lnTo>
                <a:lnTo>
                  <a:pt x="1263260" y="1263260"/>
                </a:lnTo>
                <a:lnTo>
                  <a:pt x="0" y="12632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37877" y="4945317"/>
            <a:ext cx="1263260" cy="1263260"/>
          </a:xfrm>
          <a:custGeom>
            <a:avLst/>
            <a:gdLst/>
            <a:ahLst/>
            <a:cxnLst/>
            <a:rect r="r" b="b" t="t" l="l"/>
            <a:pathLst>
              <a:path h="1263260" w="1263260">
                <a:moveTo>
                  <a:pt x="0" y="0"/>
                </a:moveTo>
                <a:lnTo>
                  <a:pt x="1263260" y="0"/>
                </a:lnTo>
                <a:lnTo>
                  <a:pt x="1263260" y="1263260"/>
                </a:lnTo>
                <a:lnTo>
                  <a:pt x="0" y="12632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38797" y="2549427"/>
            <a:ext cx="810406" cy="459230"/>
          </a:xfrm>
          <a:custGeom>
            <a:avLst/>
            <a:gdLst/>
            <a:ahLst/>
            <a:cxnLst/>
            <a:rect r="r" b="b" t="t" l="l"/>
            <a:pathLst>
              <a:path h="459230" w="810406">
                <a:moveTo>
                  <a:pt x="0" y="0"/>
                </a:moveTo>
                <a:lnTo>
                  <a:pt x="810406" y="0"/>
                </a:lnTo>
                <a:lnTo>
                  <a:pt x="810406" y="459230"/>
                </a:lnTo>
                <a:lnTo>
                  <a:pt x="0" y="4592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7877" y="794702"/>
            <a:ext cx="5685823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ML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ps Ex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1867" y="2126958"/>
            <a:ext cx="5782779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Decay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ML model lose accuray ﻿over time as real-world data change, leading to unreliable predictions.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1867" y="5154478"/>
            <a:ext cx="6026822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Deployment bottleneck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Deploying ML models is slow and error-prone  </a:t>
            </a:r>
            <a:r>
              <a:rPr lang="en-US" sz="2000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due to manual process.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41867" y="8180252"/>
            <a:ext cx="5782779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Lack of collaboration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Data Scientists, engineers and business teams struggle to work together.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86858" y="2126958"/>
            <a:ext cx="5782779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Automated Monitoring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Continuously tracks model performance and triggers  retraining when accuracy drops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01253" y="8180252"/>
            <a:ext cx="5782779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Version Control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ensures structured  workflows, enabling  teams to collaborate  and tracks changes 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01253" y="5154478"/>
            <a:ext cx="5782779" cy="105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CI/CD for Models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Automates Deployment pipelines, reducing errors and accelerating time to production.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738797" y="8501499"/>
            <a:ext cx="810406" cy="459230"/>
          </a:xfrm>
          <a:custGeom>
            <a:avLst/>
            <a:gdLst/>
            <a:ahLst/>
            <a:cxnLst/>
            <a:rect r="r" b="b" t="t" l="l"/>
            <a:pathLst>
              <a:path h="459230" w="810406">
                <a:moveTo>
                  <a:pt x="0" y="0"/>
                </a:moveTo>
                <a:lnTo>
                  <a:pt x="810406" y="0"/>
                </a:lnTo>
                <a:lnTo>
                  <a:pt x="810406" y="459230"/>
                </a:lnTo>
                <a:lnTo>
                  <a:pt x="0" y="4592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738797" y="5475725"/>
            <a:ext cx="810406" cy="459230"/>
          </a:xfrm>
          <a:custGeom>
            <a:avLst/>
            <a:gdLst/>
            <a:ahLst/>
            <a:cxnLst/>
            <a:rect r="r" b="b" t="t" l="l"/>
            <a:pathLst>
              <a:path h="459230" w="810406">
                <a:moveTo>
                  <a:pt x="0" y="0"/>
                </a:moveTo>
                <a:lnTo>
                  <a:pt x="810406" y="0"/>
                </a:lnTo>
                <a:lnTo>
                  <a:pt x="810406" y="459230"/>
                </a:lnTo>
                <a:lnTo>
                  <a:pt x="0" y="4592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95926" y="3631383"/>
            <a:ext cx="4379689" cy="1973662"/>
            <a:chOff x="0" y="0"/>
            <a:chExt cx="930011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0011" cy="419100"/>
            </a:xfrm>
            <a:custGeom>
              <a:avLst/>
              <a:gdLst/>
              <a:ahLst/>
              <a:cxnLst/>
              <a:rect r="r" b="b" t="t" l="l"/>
              <a:pathLst>
                <a:path h="419100" w="930011">
                  <a:moveTo>
                    <a:pt x="34525" y="0"/>
                  </a:moveTo>
                  <a:lnTo>
                    <a:pt x="895486" y="0"/>
                  </a:lnTo>
                  <a:cubicBezTo>
                    <a:pt x="904643" y="0"/>
                    <a:pt x="913424" y="3637"/>
                    <a:pt x="919899" y="10112"/>
                  </a:cubicBezTo>
                  <a:cubicBezTo>
                    <a:pt x="926374" y="16587"/>
                    <a:pt x="930011" y="25369"/>
                    <a:pt x="930011" y="34525"/>
                  </a:cubicBezTo>
                  <a:lnTo>
                    <a:pt x="930011" y="384575"/>
                  </a:lnTo>
                  <a:cubicBezTo>
                    <a:pt x="930011" y="403643"/>
                    <a:pt x="914554" y="419100"/>
                    <a:pt x="895486" y="419100"/>
                  </a:cubicBezTo>
                  <a:lnTo>
                    <a:pt x="34525" y="419100"/>
                  </a:lnTo>
                  <a:cubicBezTo>
                    <a:pt x="15457" y="419100"/>
                    <a:pt x="0" y="403643"/>
                    <a:pt x="0" y="384575"/>
                  </a:cubicBezTo>
                  <a:lnTo>
                    <a:pt x="0" y="34525"/>
                  </a:lnTo>
                  <a:cubicBezTo>
                    <a:pt x="0" y="15457"/>
                    <a:pt x="15457" y="0"/>
                    <a:pt x="3452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0011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1126" y="521731"/>
            <a:ext cx="16659383" cy="506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6"/>
              </a:lnSpc>
              <a:spcBef>
                <a:spcPct val="0"/>
              </a:spcBef>
            </a:pPr>
            <a:r>
              <a:rPr lang="en-US" sz="4278" spc="-3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“We Have No Id</a:t>
            </a:r>
            <a:r>
              <a:rPr lang="en-US" sz="4278" spc="-3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4278" spc="-3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 H</a:t>
            </a:r>
            <a:r>
              <a:rPr lang="en-US" sz="4278" spc="-3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4278" spc="-3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w Models will Beh</a:t>
            </a:r>
            <a:r>
              <a:rPr lang="en-US" sz="4278" spc="-3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4278" spc="-3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ve i</a:t>
            </a:r>
            <a:r>
              <a:rPr lang="en-US" sz="4278" spc="-3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4278" spc="-3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Produ</a:t>
            </a:r>
            <a:r>
              <a:rPr lang="en-US" sz="4278" spc="-3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4278" spc="-3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tion until Production”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857492" y="5867453"/>
            <a:ext cx="4508067" cy="2002713"/>
            <a:chOff x="0" y="0"/>
            <a:chExt cx="957272" cy="4252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7272" cy="425269"/>
            </a:xfrm>
            <a:custGeom>
              <a:avLst/>
              <a:gdLst/>
              <a:ahLst/>
              <a:cxnLst/>
              <a:rect r="r" b="b" t="t" l="l"/>
              <a:pathLst>
                <a:path h="425269" w="957272">
                  <a:moveTo>
                    <a:pt x="33542" y="0"/>
                  </a:moveTo>
                  <a:lnTo>
                    <a:pt x="923730" y="0"/>
                  </a:lnTo>
                  <a:cubicBezTo>
                    <a:pt x="932626" y="0"/>
                    <a:pt x="941157" y="3534"/>
                    <a:pt x="947448" y="9824"/>
                  </a:cubicBezTo>
                  <a:cubicBezTo>
                    <a:pt x="953738" y="16115"/>
                    <a:pt x="957272" y="24646"/>
                    <a:pt x="957272" y="33542"/>
                  </a:cubicBezTo>
                  <a:lnTo>
                    <a:pt x="957272" y="391727"/>
                  </a:lnTo>
                  <a:cubicBezTo>
                    <a:pt x="957272" y="400623"/>
                    <a:pt x="953738" y="409154"/>
                    <a:pt x="947448" y="415445"/>
                  </a:cubicBezTo>
                  <a:cubicBezTo>
                    <a:pt x="941157" y="421735"/>
                    <a:pt x="932626" y="425269"/>
                    <a:pt x="923730" y="425269"/>
                  </a:cubicBezTo>
                  <a:lnTo>
                    <a:pt x="33542" y="425269"/>
                  </a:lnTo>
                  <a:cubicBezTo>
                    <a:pt x="24646" y="425269"/>
                    <a:pt x="16115" y="421735"/>
                    <a:pt x="9824" y="415445"/>
                  </a:cubicBezTo>
                  <a:cubicBezTo>
                    <a:pt x="3534" y="409154"/>
                    <a:pt x="0" y="400623"/>
                    <a:pt x="0" y="391727"/>
                  </a:cubicBezTo>
                  <a:lnTo>
                    <a:pt x="0" y="33542"/>
                  </a:lnTo>
                  <a:cubicBezTo>
                    <a:pt x="0" y="24646"/>
                    <a:pt x="3534" y="16115"/>
                    <a:pt x="9824" y="9824"/>
                  </a:cubicBezTo>
                  <a:cubicBezTo>
                    <a:pt x="16115" y="3534"/>
                    <a:pt x="24646" y="0"/>
                    <a:pt x="335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57272" cy="463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900136" y="990600"/>
            <a:ext cx="39632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 spc="-72" u="sng">
                <a:solidFill>
                  <a:srgbClr val="0E58B1"/>
                </a:solidFill>
                <a:latin typeface="Inter Bold"/>
                <a:ea typeface="Inter Bold"/>
                <a:cs typeface="Inter Bold"/>
                <a:sym typeface="Inter Bold"/>
                <a:hlinkClick r:id="rId2" tooltip="https://arxiv.org/pdf/2403.16795v1"/>
              </a:rPr>
              <a:t>REF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71126" y="1163002"/>
            <a:ext cx="5382828" cy="1973662"/>
            <a:chOff x="0" y="0"/>
            <a:chExt cx="1143024" cy="419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3024" cy="419100"/>
            </a:xfrm>
            <a:custGeom>
              <a:avLst/>
              <a:gdLst/>
              <a:ahLst/>
              <a:cxnLst/>
              <a:rect r="r" b="b" t="t" l="l"/>
              <a:pathLst>
                <a:path h="419100" w="1143024">
                  <a:moveTo>
                    <a:pt x="28091" y="0"/>
                  </a:moveTo>
                  <a:lnTo>
                    <a:pt x="1114933" y="0"/>
                  </a:lnTo>
                  <a:cubicBezTo>
                    <a:pt x="1122383" y="0"/>
                    <a:pt x="1129528" y="2960"/>
                    <a:pt x="1134797" y="8228"/>
                  </a:cubicBezTo>
                  <a:cubicBezTo>
                    <a:pt x="1140065" y="13496"/>
                    <a:pt x="1143024" y="20641"/>
                    <a:pt x="1143024" y="28091"/>
                  </a:cubicBezTo>
                  <a:lnTo>
                    <a:pt x="1143024" y="391009"/>
                  </a:lnTo>
                  <a:cubicBezTo>
                    <a:pt x="1143024" y="406523"/>
                    <a:pt x="1130447" y="419100"/>
                    <a:pt x="1114933" y="419100"/>
                  </a:cubicBezTo>
                  <a:lnTo>
                    <a:pt x="28091" y="419100"/>
                  </a:lnTo>
                  <a:cubicBezTo>
                    <a:pt x="20641" y="419100"/>
                    <a:pt x="13496" y="416140"/>
                    <a:pt x="8228" y="410872"/>
                  </a:cubicBezTo>
                  <a:cubicBezTo>
                    <a:pt x="2960" y="405604"/>
                    <a:pt x="0" y="398459"/>
                    <a:pt x="0" y="391009"/>
                  </a:cubicBezTo>
                  <a:lnTo>
                    <a:pt x="0" y="28091"/>
                  </a:lnTo>
                  <a:cubicBezTo>
                    <a:pt x="0" y="20641"/>
                    <a:pt x="2960" y="13496"/>
                    <a:pt x="8228" y="8228"/>
                  </a:cubicBezTo>
                  <a:cubicBezTo>
                    <a:pt x="13496" y="2960"/>
                    <a:pt x="20641" y="0"/>
                    <a:pt x="280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43024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76785" y="1284247"/>
            <a:ext cx="5131594" cy="169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 spc="-7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DATA DISTRIBUTI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ON SHIFTS</a:t>
            </a:r>
          </a:p>
          <a:p>
            <a:pPr algn="just" marL="338548" indent="-169274" lvl="1">
              <a:lnSpc>
                <a:spcPts val="2195"/>
              </a:lnSpc>
              <a:spcBef>
                <a:spcPct val="0"/>
              </a:spcBef>
              <a:buFont typeface="Arial"/>
              <a:buChar char="•"/>
            </a:pPr>
            <a:r>
              <a:rPr lang="en-US" sz="1568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TRAINING DATA ≠ REAL-WORLD DATA</a:t>
            </a:r>
          </a:p>
          <a:p>
            <a:pPr algn="just" marL="338548" indent="-169274" lvl="1">
              <a:lnSpc>
                <a:spcPts val="2195"/>
              </a:lnSpc>
              <a:spcBef>
                <a:spcPct val="0"/>
              </a:spcBef>
              <a:buFont typeface="Arial"/>
              <a:buChar char="•"/>
            </a:pPr>
            <a:r>
              <a:rPr lang="en-US" sz="1568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DRIFT / CONCEPT DRIFT</a:t>
            </a:r>
          </a:p>
          <a:p>
            <a:pPr algn="just" marL="338548" indent="-169274" lvl="1">
              <a:lnSpc>
                <a:spcPts val="2195"/>
              </a:lnSpc>
              <a:spcBef>
                <a:spcPct val="0"/>
              </a:spcBef>
              <a:buFont typeface="Arial"/>
              <a:buChar char="•"/>
            </a:pPr>
            <a:r>
              <a:rPr lang="en-US" sz="1568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 BECOMES IRRELEVANT OVER TIME</a:t>
            </a:r>
          </a:p>
          <a:p>
            <a:pPr algn="just" marL="338548" indent="-169274" lvl="1">
              <a:lnSpc>
                <a:spcPts val="2195"/>
              </a:lnSpc>
              <a:spcBef>
                <a:spcPct val="0"/>
              </a:spcBef>
              <a:buFont typeface="Arial"/>
              <a:buChar char="•"/>
            </a:pPr>
            <a:r>
              <a:rPr lang="en-US" sz="1568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EXAMPLE: SEASONAL PATTERNS, NEW FRAUD TYPES</a:t>
            </a:r>
          </a:p>
          <a:p>
            <a:pPr algn="just">
              <a:lnSpc>
                <a:spcPts val="2195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966111" y="3749446"/>
            <a:ext cx="3839319" cy="169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5"/>
              </a:lnSpc>
            </a:pP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OVERFITTING TO LAB DATA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DEL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MEMOR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ZE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RAINING DATA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POOR GENERALIZATION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TEST SET TOO SIMILAR TO TRAINING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ACK OF AUGMENTATION &amp; DIVERSITY</a:t>
            </a:r>
          </a:p>
          <a:p>
            <a:pPr algn="just">
              <a:lnSpc>
                <a:spcPts val="2195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6221172" y="1166184"/>
            <a:ext cx="4959292" cy="1973662"/>
            <a:chOff x="0" y="0"/>
            <a:chExt cx="1053088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3088" cy="419100"/>
            </a:xfrm>
            <a:custGeom>
              <a:avLst/>
              <a:gdLst/>
              <a:ahLst/>
              <a:cxnLst/>
              <a:rect r="r" b="b" t="t" l="l"/>
              <a:pathLst>
                <a:path h="419100" w="1053088">
                  <a:moveTo>
                    <a:pt x="30490" y="0"/>
                  </a:moveTo>
                  <a:lnTo>
                    <a:pt x="1022598" y="0"/>
                  </a:lnTo>
                  <a:cubicBezTo>
                    <a:pt x="1039437" y="0"/>
                    <a:pt x="1053088" y="13651"/>
                    <a:pt x="1053088" y="30490"/>
                  </a:cubicBezTo>
                  <a:lnTo>
                    <a:pt x="1053088" y="388610"/>
                  </a:lnTo>
                  <a:cubicBezTo>
                    <a:pt x="1053088" y="405449"/>
                    <a:pt x="1039437" y="419100"/>
                    <a:pt x="1022598" y="419100"/>
                  </a:cubicBezTo>
                  <a:lnTo>
                    <a:pt x="30490" y="419100"/>
                  </a:lnTo>
                  <a:cubicBezTo>
                    <a:pt x="13651" y="419100"/>
                    <a:pt x="0" y="405449"/>
                    <a:pt x="0" y="388610"/>
                  </a:cubicBezTo>
                  <a:lnTo>
                    <a:pt x="0" y="30490"/>
                  </a:lnTo>
                  <a:cubicBezTo>
                    <a:pt x="0" y="13651"/>
                    <a:pt x="13651" y="0"/>
                    <a:pt x="304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53088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566883" y="1284247"/>
            <a:ext cx="4267870" cy="169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5"/>
              </a:lnSpc>
            </a:pPr>
            <a:r>
              <a:rPr lang="en-US" sz="1868" spc="-7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LACK OF MONITORING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TRACKING OF DRIFT OR PERFORMANCE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MISSES DATA QUALITY ISSUES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MIS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SES LATENCY/BUSINESS KPIS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FAILURES DISCOVERED TOO LATE</a:t>
            </a:r>
          </a:p>
          <a:p>
            <a:pPr algn="just">
              <a:lnSpc>
                <a:spcPts val="2195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380311" y="3631383"/>
            <a:ext cx="4379689" cy="1973662"/>
            <a:chOff x="0" y="0"/>
            <a:chExt cx="930011" cy="419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0011" cy="419100"/>
            </a:xfrm>
            <a:custGeom>
              <a:avLst/>
              <a:gdLst/>
              <a:ahLst/>
              <a:cxnLst/>
              <a:rect r="r" b="b" t="t" l="l"/>
              <a:pathLst>
                <a:path h="419100" w="930011">
                  <a:moveTo>
                    <a:pt x="34525" y="0"/>
                  </a:moveTo>
                  <a:lnTo>
                    <a:pt x="895486" y="0"/>
                  </a:lnTo>
                  <a:cubicBezTo>
                    <a:pt x="904643" y="0"/>
                    <a:pt x="913424" y="3637"/>
                    <a:pt x="919899" y="10112"/>
                  </a:cubicBezTo>
                  <a:cubicBezTo>
                    <a:pt x="926374" y="16587"/>
                    <a:pt x="930011" y="25369"/>
                    <a:pt x="930011" y="34525"/>
                  </a:cubicBezTo>
                  <a:lnTo>
                    <a:pt x="930011" y="384575"/>
                  </a:lnTo>
                  <a:cubicBezTo>
                    <a:pt x="930011" y="403643"/>
                    <a:pt x="914554" y="419100"/>
                    <a:pt x="895486" y="419100"/>
                  </a:cubicBezTo>
                  <a:lnTo>
                    <a:pt x="34525" y="419100"/>
                  </a:lnTo>
                  <a:cubicBezTo>
                    <a:pt x="15457" y="419100"/>
                    <a:pt x="0" y="403643"/>
                    <a:pt x="0" y="384575"/>
                  </a:cubicBezTo>
                  <a:lnTo>
                    <a:pt x="0" y="34525"/>
                  </a:lnTo>
                  <a:cubicBezTo>
                    <a:pt x="0" y="15457"/>
                    <a:pt x="15457" y="0"/>
                    <a:pt x="3452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30011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98563" y="3749446"/>
            <a:ext cx="3839319" cy="169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5"/>
              </a:lnSpc>
            </a:pPr>
            <a:r>
              <a:rPr lang="en-US" sz="1868" spc="-7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OVERFITTING TO LAB DATA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DEL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MEMOR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ZE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RAINING DATA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POOR GENERALIZATION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TEST SET TOO SIMILAR TO TRAINING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ACK OF AUGMENTATION &amp; DIVERSITY</a:t>
            </a:r>
          </a:p>
          <a:p>
            <a:pPr algn="just">
              <a:lnSpc>
                <a:spcPts val="2195"/>
              </a:lnSpc>
              <a:spcBef>
                <a:spcPct val="0"/>
              </a:spcBef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380311" y="5943600"/>
            <a:ext cx="5017186" cy="1973662"/>
            <a:chOff x="0" y="0"/>
            <a:chExt cx="1065381" cy="419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5381" cy="419100"/>
            </a:xfrm>
            <a:custGeom>
              <a:avLst/>
              <a:gdLst/>
              <a:ahLst/>
              <a:cxnLst/>
              <a:rect r="r" b="b" t="t" l="l"/>
              <a:pathLst>
                <a:path h="419100" w="1065381">
                  <a:moveTo>
                    <a:pt x="30138" y="0"/>
                  </a:moveTo>
                  <a:lnTo>
                    <a:pt x="1035243" y="0"/>
                  </a:lnTo>
                  <a:cubicBezTo>
                    <a:pt x="1051888" y="0"/>
                    <a:pt x="1065381" y="13493"/>
                    <a:pt x="1065381" y="30138"/>
                  </a:cubicBezTo>
                  <a:lnTo>
                    <a:pt x="1065381" y="388962"/>
                  </a:lnTo>
                  <a:cubicBezTo>
                    <a:pt x="1065381" y="396955"/>
                    <a:pt x="1062206" y="404621"/>
                    <a:pt x="1056554" y="410273"/>
                  </a:cubicBezTo>
                  <a:cubicBezTo>
                    <a:pt x="1050902" y="415925"/>
                    <a:pt x="1043236" y="419100"/>
                    <a:pt x="1035243" y="419100"/>
                  </a:cubicBezTo>
                  <a:lnTo>
                    <a:pt x="30138" y="419100"/>
                  </a:lnTo>
                  <a:cubicBezTo>
                    <a:pt x="22145" y="419100"/>
                    <a:pt x="14479" y="415925"/>
                    <a:pt x="8827" y="410273"/>
                  </a:cubicBezTo>
                  <a:cubicBezTo>
                    <a:pt x="3175" y="404621"/>
                    <a:pt x="0" y="396955"/>
                    <a:pt x="0" y="388962"/>
                  </a:cubicBezTo>
                  <a:lnTo>
                    <a:pt x="0" y="30138"/>
                  </a:lnTo>
                  <a:cubicBezTo>
                    <a:pt x="0" y="22145"/>
                    <a:pt x="3175" y="14479"/>
                    <a:pt x="8827" y="8827"/>
                  </a:cubicBezTo>
                  <a:cubicBezTo>
                    <a:pt x="14479" y="3175"/>
                    <a:pt x="22145" y="0"/>
                    <a:pt x="301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65381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76785" y="6061663"/>
            <a:ext cx="4624239" cy="169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 spc="-7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NTEGRATI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ON &amp; INFRAST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RUCTURE ISSUES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NOTEBOOK → PRODUCTION GAP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ATENCY TOO HIGH FOR REAL-TIME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AVY GPU/CPU REQUIREMENTS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VERSIONING &amp; DEPENDENCY CONFLICTS</a:t>
            </a:r>
          </a:p>
          <a:p>
            <a:pPr algn="just">
              <a:lnSpc>
                <a:spcPts val="2195"/>
              </a:lnSpc>
              <a:spcBef>
                <a:spcPct val="0"/>
              </a:spcBef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5238348" y="3631383"/>
            <a:ext cx="5752727" cy="1973662"/>
            <a:chOff x="0" y="0"/>
            <a:chExt cx="1221571" cy="419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21571" cy="419100"/>
            </a:xfrm>
            <a:custGeom>
              <a:avLst/>
              <a:gdLst/>
              <a:ahLst/>
              <a:cxnLst/>
              <a:rect r="r" b="b" t="t" l="l"/>
              <a:pathLst>
                <a:path h="419100" w="1221571">
                  <a:moveTo>
                    <a:pt x="26285" y="0"/>
                  </a:moveTo>
                  <a:lnTo>
                    <a:pt x="1195286" y="0"/>
                  </a:lnTo>
                  <a:cubicBezTo>
                    <a:pt x="1209803" y="0"/>
                    <a:pt x="1221571" y="11768"/>
                    <a:pt x="1221571" y="26285"/>
                  </a:cubicBezTo>
                  <a:lnTo>
                    <a:pt x="1221571" y="392815"/>
                  </a:lnTo>
                  <a:cubicBezTo>
                    <a:pt x="1221571" y="399786"/>
                    <a:pt x="1218802" y="406472"/>
                    <a:pt x="1213872" y="411401"/>
                  </a:cubicBezTo>
                  <a:cubicBezTo>
                    <a:pt x="1208943" y="416331"/>
                    <a:pt x="1202257" y="419100"/>
                    <a:pt x="1195286" y="419100"/>
                  </a:cubicBezTo>
                  <a:lnTo>
                    <a:pt x="26285" y="419100"/>
                  </a:lnTo>
                  <a:cubicBezTo>
                    <a:pt x="11768" y="419100"/>
                    <a:pt x="0" y="407332"/>
                    <a:pt x="0" y="392815"/>
                  </a:cubicBezTo>
                  <a:lnTo>
                    <a:pt x="0" y="26285"/>
                  </a:lnTo>
                  <a:cubicBezTo>
                    <a:pt x="0" y="11768"/>
                    <a:pt x="11768" y="0"/>
                    <a:pt x="262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221571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510978" y="3811067"/>
            <a:ext cx="5201096" cy="142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METRICS NOT ALIG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NED WITH BUS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INESS GOALS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OPTIMIZING ACCURACY INSTEAD OF VALUE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PRECISION BUT LOW REVENUE IMPACT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MISMATCH BETWEEN DATA METRICS AND KPIS</a:t>
            </a:r>
          </a:p>
          <a:p>
            <a:pPr algn="just">
              <a:lnSpc>
                <a:spcPts val="2195"/>
              </a:lnSpc>
              <a:spcBef>
                <a:spcPct val="0"/>
              </a:spcBef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5963771" y="8132574"/>
            <a:ext cx="4379689" cy="1973662"/>
            <a:chOff x="0" y="0"/>
            <a:chExt cx="930011" cy="4191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0011" cy="419100"/>
            </a:xfrm>
            <a:custGeom>
              <a:avLst/>
              <a:gdLst/>
              <a:ahLst/>
              <a:cxnLst/>
              <a:rect r="r" b="b" t="t" l="l"/>
              <a:pathLst>
                <a:path h="419100" w="930011">
                  <a:moveTo>
                    <a:pt x="34525" y="0"/>
                  </a:moveTo>
                  <a:lnTo>
                    <a:pt x="895486" y="0"/>
                  </a:lnTo>
                  <a:cubicBezTo>
                    <a:pt x="904643" y="0"/>
                    <a:pt x="913424" y="3637"/>
                    <a:pt x="919899" y="10112"/>
                  </a:cubicBezTo>
                  <a:cubicBezTo>
                    <a:pt x="926374" y="16587"/>
                    <a:pt x="930011" y="25369"/>
                    <a:pt x="930011" y="34525"/>
                  </a:cubicBezTo>
                  <a:lnTo>
                    <a:pt x="930011" y="384575"/>
                  </a:lnTo>
                  <a:cubicBezTo>
                    <a:pt x="930011" y="403643"/>
                    <a:pt x="914554" y="419100"/>
                    <a:pt x="895486" y="419100"/>
                  </a:cubicBezTo>
                  <a:lnTo>
                    <a:pt x="34525" y="419100"/>
                  </a:lnTo>
                  <a:cubicBezTo>
                    <a:pt x="15457" y="419100"/>
                    <a:pt x="0" y="403643"/>
                    <a:pt x="0" y="384575"/>
                  </a:cubicBezTo>
                  <a:lnTo>
                    <a:pt x="0" y="34525"/>
                  </a:lnTo>
                  <a:cubicBezTo>
                    <a:pt x="0" y="15457"/>
                    <a:pt x="15457" y="0"/>
                    <a:pt x="3452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30011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6221172" y="8299261"/>
            <a:ext cx="3787080" cy="169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5"/>
              </a:lnSpc>
            </a:pP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 STALENESS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EHAV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ANGE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ENVIRONMENT EVOLVES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NEE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DS PERIODIC RETRAINING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OUTDATED MODEL LOSES ACCURACY</a:t>
            </a:r>
          </a:p>
          <a:p>
            <a:pPr algn="just">
              <a:lnSpc>
                <a:spcPts val="2195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6117730" y="6138154"/>
            <a:ext cx="4191670" cy="142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sz="1868" spc="-7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NH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ANDLED EDGE CASES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REAL WORLD ≠ CLEAN DATASET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UNSE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SCENARIOS BREAK MODEL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EXAMPLES: RARE OBJECTS, SLANG, NOISE</a:t>
            </a:r>
          </a:p>
          <a:p>
            <a:pPr algn="just">
              <a:lnSpc>
                <a:spcPts val="2195"/>
              </a:lnSpc>
              <a:spcBef>
                <a:spcPct val="0"/>
              </a:spcBef>
            </a:pPr>
          </a:p>
        </p:txBody>
      </p:sp>
      <p:grpSp>
        <p:nvGrpSpPr>
          <p:cNvPr name="Group 39" id="39"/>
          <p:cNvGrpSpPr/>
          <p:nvPr/>
        </p:nvGrpSpPr>
        <p:grpSpPr>
          <a:xfrm rot="0">
            <a:off x="371126" y="8132574"/>
            <a:ext cx="5035555" cy="1973662"/>
            <a:chOff x="0" y="0"/>
            <a:chExt cx="1069282" cy="419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9282" cy="419100"/>
            </a:xfrm>
            <a:custGeom>
              <a:avLst/>
              <a:gdLst/>
              <a:ahLst/>
              <a:cxnLst/>
              <a:rect r="r" b="b" t="t" l="l"/>
              <a:pathLst>
                <a:path h="419100" w="1069282">
                  <a:moveTo>
                    <a:pt x="30028" y="0"/>
                  </a:moveTo>
                  <a:lnTo>
                    <a:pt x="1039254" y="0"/>
                  </a:lnTo>
                  <a:cubicBezTo>
                    <a:pt x="1055838" y="0"/>
                    <a:pt x="1069282" y="13444"/>
                    <a:pt x="1069282" y="30028"/>
                  </a:cubicBezTo>
                  <a:lnTo>
                    <a:pt x="1069282" y="389072"/>
                  </a:lnTo>
                  <a:cubicBezTo>
                    <a:pt x="1069282" y="405656"/>
                    <a:pt x="1055838" y="419100"/>
                    <a:pt x="1039254" y="419100"/>
                  </a:cubicBezTo>
                  <a:lnTo>
                    <a:pt x="30028" y="419100"/>
                  </a:lnTo>
                  <a:cubicBezTo>
                    <a:pt x="13444" y="419100"/>
                    <a:pt x="0" y="405656"/>
                    <a:pt x="0" y="389072"/>
                  </a:cubicBezTo>
                  <a:lnTo>
                    <a:pt x="0" y="30028"/>
                  </a:lnTo>
                  <a:cubicBezTo>
                    <a:pt x="0" y="13444"/>
                    <a:pt x="13444" y="0"/>
                    <a:pt x="3002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69282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98563" y="8437374"/>
            <a:ext cx="4380681" cy="142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SECURITY &amp; ADV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ERSARIAL ATTACKS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MODELS EASILY FOOLED INTENTIONALLY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SMALL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PERTURBATIONS → WRONG OUTPUT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NEED</a:t>
            </a: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 ROBUST DEFENSES</a:t>
            </a:r>
          </a:p>
          <a:p>
            <a:pPr algn="just">
              <a:lnSpc>
                <a:spcPts val="2195"/>
              </a:lnSpc>
              <a:spcBef>
                <a:spcPct val="0"/>
              </a:spcBef>
            </a:pPr>
          </a:p>
        </p:txBody>
      </p:sp>
      <p:grpSp>
        <p:nvGrpSpPr>
          <p:cNvPr name="Group 43" id="43"/>
          <p:cNvGrpSpPr/>
          <p:nvPr/>
        </p:nvGrpSpPr>
        <p:grpSpPr>
          <a:xfrm rot="0">
            <a:off x="11647189" y="1477513"/>
            <a:ext cx="4945704" cy="1973662"/>
            <a:chOff x="0" y="0"/>
            <a:chExt cx="1050203" cy="419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0203" cy="419100"/>
            </a:xfrm>
            <a:custGeom>
              <a:avLst/>
              <a:gdLst/>
              <a:ahLst/>
              <a:cxnLst/>
              <a:rect r="r" b="b" t="t" l="l"/>
              <a:pathLst>
                <a:path h="419100" w="1050203">
                  <a:moveTo>
                    <a:pt x="30574" y="0"/>
                  </a:moveTo>
                  <a:lnTo>
                    <a:pt x="1019629" y="0"/>
                  </a:lnTo>
                  <a:cubicBezTo>
                    <a:pt x="1036514" y="0"/>
                    <a:pt x="1050203" y="13688"/>
                    <a:pt x="1050203" y="30574"/>
                  </a:cubicBezTo>
                  <a:lnTo>
                    <a:pt x="1050203" y="388526"/>
                  </a:lnTo>
                  <a:cubicBezTo>
                    <a:pt x="1050203" y="396635"/>
                    <a:pt x="1046981" y="404411"/>
                    <a:pt x="1041248" y="410145"/>
                  </a:cubicBezTo>
                  <a:cubicBezTo>
                    <a:pt x="1035514" y="415879"/>
                    <a:pt x="1027737" y="419100"/>
                    <a:pt x="1019629" y="419100"/>
                  </a:cubicBezTo>
                  <a:lnTo>
                    <a:pt x="30574" y="419100"/>
                  </a:lnTo>
                  <a:cubicBezTo>
                    <a:pt x="22465" y="419100"/>
                    <a:pt x="14689" y="415879"/>
                    <a:pt x="8955" y="410145"/>
                  </a:cubicBezTo>
                  <a:cubicBezTo>
                    <a:pt x="3221" y="404411"/>
                    <a:pt x="0" y="396635"/>
                    <a:pt x="0" y="388526"/>
                  </a:cubicBezTo>
                  <a:lnTo>
                    <a:pt x="0" y="30574"/>
                  </a:lnTo>
                  <a:cubicBezTo>
                    <a:pt x="0" y="22465"/>
                    <a:pt x="3221" y="14689"/>
                    <a:pt x="8955" y="8955"/>
                  </a:cubicBezTo>
                  <a:cubicBezTo>
                    <a:pt x="14689" y="3221"/>
                    <a:pt x="22465" y="0"/>
                    <a:pt x="305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50203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1763934" y="1627147"/>
            <a:ext cx="4640907" cy="169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5"/>
              </a:lnSpc>
              <a:spcBef>
                <a:spcPct val="0"/>
              </a:spcBef>
            </a:pP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ORGANIZATIO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NAL &amp; HUMA</a:t>
            </a:r>
            <a:r>
              <a:rPr lang="en-US" b="true" sz="1868" spc="-7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 FACTORS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POOR COLLABORATION DS ↔ ENGINEERING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UNREALISTIC STAKEHOLDER EXPECTATIONS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LACK OF INVESTMENT IN MONITORING &amp; INFRA</a:t>
            </a:r>
          </a:p>
          <a:p>
            <a:pPr algn="just" marL="338962" indent="-169481" lvl="1">
              <a:lnSpc>
                <a:spcPts val="2197"/>
              </a:lnSpc>
              <a:spcBef>
                <a:spcPct val="0"/>
              </a:spcBef>
              <a:buFont typeface="Arial"/>
              <a:buChar char="•"/>
            </a:pPr>
            <a:r>
              <a:rPr lang="en-US" sz="1569" spc="-6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MATURITY GAP IN ML PROCESSES</a:t>
            </a:r>
          </a:p>
          <a:p>
            <a:pPr algn="just">
              <a:lnSpc>
                <a:spcPts val="21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419655" y="1192335"/>
          <a:ext cx="17448690" cy="8788111"/>
        </p:xfrm>
        <a:graphic>
          <a:graphicData uri="http://schemas.openxmlformats.org/drawingml/2006/table">
            <a:tbl>
              <a:tblPr/>
              <a:tblGrid>
                <a:gridCol w="3509975"/>
                <a:gridCol w="6822727"/>
                <a:gridCol w="7115988"/>
              </a:tblGrid>
              <a:tr h="8131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DevOps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MLOps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1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Team Roles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Software engineers with predictable workflows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Data scientists + ML engineers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8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Nature of Development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Deterministic — behavior changes only when code changes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Non-deterministic — model behavior depends on data, features, hyperparameters, environment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1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Testing Scope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Unit tests, integration tests, functional tests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code + data +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1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Versioning Needs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Version code and configs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Version datasets, models, experiments,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1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Deployment Unit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software package/microservice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 whole 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ML pipeline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81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Production Behavior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Stable once deployed; failures come from code bugs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Models degrade over time due to data drift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88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Operational Monitoring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System metrics (CPU, RAM, uptime, logs)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 metrics + data quality + drift monitoring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1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Continuous Integration (CI)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 and validate 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Test and validate code + data schema + model 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3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Continuous Delivery (CD)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Deploy software services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Deploy training pipelines and model prediction services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19655" y="351155"/>
            <a:ext cx="5843747" cy="59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09"/>
              </a:lnSpc>
              <a:spcBef>
                <a:spcPct val="0"/>
              </a:spcBef>
            </a:pPr>
            <a:r>
              <a:rPr lang="en-US" sz="5070" spc="-38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DevOps</a:t>
            </a:r>
            <a:r>
              <a:rPr lang="en-US" sz="5070" spc="-38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5070" spc="-38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vs MLOps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0653131" y="2318731"/>
            <a:ext cx="10730064" cy="5649539"/>
            <a:chOff x="0" y="0"/>
            <a:chExt cx="3845413" cy="202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2024667"/>
            </a:xfrm>
            <a:custGeom>
              <a:avLst/>
              <a:gdLst/>
              <a:ahLst/>
              <a:cxnLst/>
              <a:rect r="r" b="b" t="t" l="l"/>
              <a:pathLst>
                <a:path h="2024667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024667"/>
                  </a:lnTo>
                  <a:lnTo>
                    <a:pt x="0" y="2024667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207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719203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02489"/>
            <a:ext cx="11372226" cy="175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7"/>
              </a:lnSpc>
            </a:pPr>
            <a:r>
              <a:rPr lang="en-US" sz="5070" b="true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4" tooltip="https://en.wikipedia.org/wiki/Continuous_integration"/>
              </a:rPr>
              <a:t>Continuous</a:t>
            </a:r>
            <a:r>
              <a:rPr lang="en-US" b="true" sz="5070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5" tooltip="https://en.wikipedia.org/wiki/Continuous_integration"/>
              </a:rPr>
              <a:t> integration(CI)</a:t>
            </a:r>
            <a:r>
              <a:rPr lang="en-US" b="true" sz="5070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</a:t>
            </a:r>
          </a:p>
          <a:p>
            <a:pPr algn="l">
              <a:lnSpc>
                <a:spcPts val="7097"/>
              </a:lnSpc>
            </a:pPr>
            <a:r>
              <a:rPr lang="en-US" b="true" sz="5070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6" tooltip="https://en.wikipedia.org/wiki/Continuous_delivery"/>
              </a:rPr>
              <a:t>Continuous delivery (CD)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8753" y="2652014"/>
            <a:ext cx="11056281" cy="249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09" b="true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Continuous Integration (CI) in MLOps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Tests an</a:t>
            </a: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d validates code, data, features, and models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Ensures data schema consistency (no missing/changed columns)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Detects data drift or quality issues early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Reproducible training through pipeline components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Model training becomes part of CI, not just code testing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9228" y="5761267"/>
            <a:ext cx="11574874" cy="291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09" b="true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Continuous Delivery (CD) in MLOps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eploys entire</a:t>
            </a: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 ML pipelines, not just software artifacts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Automates pushing new feature pipelines, training pipelines, and model artifacts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ses model versioning and lineage tracking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Deploys both training service → model registry → prediction service</a:t>
            </a:r>
          </a:p>
          <a:p>
            <a:pPr algn="l" marL="520318" indent="-260159" lvl="1">
              <a:lnSpc>
                <a:spcPts val="3373"/>
              </a:lnSpc>
              <a:buFont typeface="Arial"/>
              <a:buChar char="•"/>
            </a:pPr>
            <a:r>
              <a:rPr lang="en-US" sz="2409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Validates that the pipeline itself is correct before going into production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0653131" y="2318731"/>
            <a:ext cx="10730064" cy="5649539"/>
            <a:chOff x="0" y="0"/>
            <a:chExt cx="3845413" cy="202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2024667"/>
            </a:xfrm>
            <a:custGeom>
              <a:avLst/>
              <a:gdLst/>
              <a:ahLst/>
              <a:cxnLst/>
              <a:rect r="r" b="b" t="t" l="l"/>
              <a:pathLst>
                <a:path h="2024667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2024667"/>
                  </a:lnTo>
                  <a:lnTo>
                    <a:pt x="0" y="2024667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207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719203" y="1028700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5521" y="379877"/>
            <a:ext cx="7767358" cy="877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0"/>
              </a:lnSpc>
            </a:pPr>
            <a:r>
              <a:rPr lang="en-US" sz="5071" b="true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Continuous</a:t>
            </a:r>
            <a:r>
              <a:rPr lang="en-US" b="true" sz="5071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Training (CT)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5521" y="2164782"/>
            <a:ext cx="10315560" cy="517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8"/>
              </a:lnSpc>
            </a:pPr>
            <a:r>
              <a:rPr lang="en-US" sz="2455" b="true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Continuous Training (CT) — Unique to ML Syst</a:t>
            </a:r>
            <a:r>
              <a:rPr lang="en-US" sz="2455" b="true">
                <a:solidFill>
                  <a:srgbClr val="403E3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ems</a:t>
            </a:r>
          </a:p>
          <a:p>
            <a:pPr algn="l" marL="530219" indent="-265110" lvl="1">
              <a:lnSpc>
                <a:spcPts val="3438"/>
              </a:lnSpc>
              <a:buFont typeface="Arial"/>
              <a:buChar char="•"/>
            </a:pP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Aut</a:t>
            </a: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omatically retrains models when:</a:t>
            </a:r>
          </a:p>
          <a:p>
            <a:pPr algn="l" marL="1060439" indent="-353480" lvl="2">
              <a:lnSpc>
                <a:spcPts val="3438"/>
              </a:lnSpc>
              <a:buFont typeface="Arial"/>
              <a:buChar char="⚬"/>
            </a:pP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ew data arrives</a:t>
            </a:r>
          </a:p>
          <a:p>
            <a:pPr algn="l" marL="1060439" indent="-353480" lvl="2">
              <a:lnSpc>
                <a:spcPts val="3438"/>
              </a:lnSpc>
              <a:buFont typeface="Arial"/>
              <a:buChar char="⚬"/>
            </a:pP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Data distribution shifts</a:t>
            </a:r>
          </a:p>
          <a:p>
            <a:pPr algn="l" marL="1060439" indent="-353480" lvl="2">
              <a:lnSpc>
                <a:spcPts val="3438"/>
              </a:lnSpc>
              <a:buFont typeface="Arial"/>
              <a:buChar char="⚬"/>
            </a:pP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Performance drops below threshold</a:t>
            </a:r>
          </a:p>
          <a:p>
            <a:pPr algn="l" marL="530219" indent="-265110" lvl="1">
              <a:lnSpc>
                <a:spcPts val="3438"/>
              </a:lnSpc>
              <a:buFont typeface="Arial"/>
              <a:buChar char="•"/>
            </a:pP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Ex</a:t>
            </a: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ecutes the full retraining pipeline:</a:t>
            </a:r>
          </a:p>
          <a:p>
            <a:pPr algn="l" marL="530219" indent="-265110" lvl="1">
              <a:lnSpc>
                <a:spcPts val="3438"/>
              </a:lnSpc>
              <a:buFont typeface="Arial"/>
              <a:buChar char="•"/>
            </a:pP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data → feature engineering → training → evaluation → model registry → serving</a:t>
            </a:r>
          </a:p>
          <a:p>
            <a:pPr algn="l" marL="530219" indent="-265110" lvl="1">
              <a:lnSpc>
                <a:spcPts val="3438"/>
              </a:lnSpc>
              <a:buFont typeface="Arial"/>
              <a:buChar char="•"/>
            </a:pP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Ensures m</a:t>
            </a: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odels evolve with real-world behavior</a:t>
            </a:r>
          </a:p>
          <a:p>
            <a:pPr algn="l" marL="530219" indent="-265110" lvl="1">
              <a:lnSpc>
                <a:spcPts val="3438"/>
              </a:lnSpc>
              <a:buFont typeface="Arial"/>
              <a:buChar char="•"/>
            </a:pP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Guards against model decay, concept drift, and data drift</a:t>
            </a:r>
          </a:p>
          <a:p>
            <a:pPr algn="l" marL="530219" indent="-265110" lvl="1">
              <a:lnSpc>
                <a:spcPts val="3438"/>
              </a:lnSpc>
              <a:buFont typeface="Arial"/>
              <a:buChar char="•"/>
            </a:pPr>
            <a:r>
              <a:rPr lang="en-US" sz="2455">
                <a:solidFill>
                  <a:srgbClr val="403E3E"/>
                </a:solidFill>
                <a:latin typeface="Canva Sans"/>
                <a:ea typeface="Canva Sans"/>
                <a:cs typeface="Canva Sans"/>
                <a:sym typeface="Canva Sans"/>
              </a:rPr>
              <a:t>Includes automated rollback if the new model underperforms</a:t>
            </a:r>
          </a:p>
          <a:p>
            <a:pPr algn="l">
              <a:lnSpc>
                <a:spcPts val="343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635947" y="-7868495"/>
            <a:ext cx="2107497" cy="17622955"/>
            <a:chOff x="0" y="0"/>
            <a:chExt cx="755279" cy="6315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5279" cy="6315670"/>
            </a:xfrm>
            <a:custGeom>
              <a:avLst/>
              <a:gdLst/>
              <a:ahLst/>
              <a:cxnLst/>
              <a:rect r="r" b="b" t="t" l="l"/>
              <a:pathLst>
                <a:path h="6315670" w="755279">
                  <a:moveTo>
                    <a:pt x="0" y="0"/>
                  </a:moveTo>
                  <a:lnTo>
                    <a:pt x="755279" y="0"/>
                  </a:lnTo>
                  <a:lnTo>
                    <a:pt x="755279" y="6315670"/>
                  </a:lnTo>
                  <a:lnTo>
                    <a:pt x="0" y="6315670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755279" cy="6363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15107148" y="1236367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35289" y="2470921"/>
            <a:ext cx="9540649" cy="7118384"/>
          </a:xfrm>
          <a:custGeom>
            <a:avLst/>
            <a:gdLst/>
            <a:ahLst/>
            <a:cxnLst/>
            <a:rect r="r" b="b" t="t" l="l"/>
            <a:pathLst>
              <a:path h="7118384" w="9540649">
                <a:moveTo>
                  <a:pt x="0" y="0"/>
                </a:moveTo>
                <a:lnTo>
                  <a:pt x="9540649" y="0"/>
                </a:lnTo>
                <a:lnTo>
                  <a:pt x="9540649" y="7118384"/>
                </a:lnTo>
                <a:lnTo>
                  <a:pt x="0" y="7118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5866" y="864045"/>
            <a:ext cx="3950553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ML Lif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ec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ycl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-4787018" y="4319459"/>
            <a:ext cx="10730064" cy="1648082"/>
            <a:chOff x="0" y="0"/>
            <a:chExt cx="3845413" cy="5906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590635"/>
            </a:xfrm>
            <a:custGeom>
              <a:avLst/>
              <a:gdLst/>
              <a:ahLst/>
              <a:cxnLst/>
              <a:rect r="r" b="b" t="t" l="l"/>
              <a:pathLst>
                <a:path h="590635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590635"/>
                  </a:lnTo>
                  <a:lnTo>
                    <a:pt x="0" y="590635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638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27864" y="557143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13294" y="990600"/>
            <a:ext cx="7413206" cy="704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Training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Select algorithms and train multiple models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Hyperparameter tuning for best performance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Track training experiments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Evaluation &amp; Validation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Evaluate model on validation/test sets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metrics aligned with business goals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Confirm model readiness for deployment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Serving / Deployment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Deploy as API, batch process, or embedded model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Ensure production readiness and scalability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Monitoring &amp; Feedback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Track performance, detect drift or decay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Trigger retraining cycles if needed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Close the loop → feed new data back into lifecycle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18359" y="990600"/>
            <a:ext cx="6578631" cy="741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Use Case &amp; Success Criteria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Define the problem clearly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Set measurable goals for model performance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Extraction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Collect relevant data from multiple sources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 structured, unstructured, or streaming data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</a:t>
            </a: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(EDA)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Explore data distributions, missing values, correlations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Understand features and relationships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 preprocessing and feature engineering needs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Preparation &amp; Feature Engineering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Clean, normalize, and transform data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Split data into training, validation, test sets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new features or aggregate existing ones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73043" y="-8105590"/>
            <a:ext cx="1633306" cy="17622955"/>
            <a:chOff x="0" y="0"/>
            <a:chExt cx="585340" cy="6315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5340" cy="6315670"/>
            </a:xfrm>
            <a:custGeom>
              <a:avLst/>
              <a:gdLst/>
              <a:ahLst/>
              <a:cxnLst/>
              <a:rect r="r" b="b" t="t" l="l"/>
              <a:pathLst>
                <a:path h="6315670" w="585340">
                  <a:moveTo>
                    <a:pt x="0" y="0"/>
                  </a:moveTo>
                  <a:lnTo>
                    <a:pt x="585340" y="0"/>
                  </a:lnTo>
                  <a:lnTo>
                    <a:pt x="585340" y="6315670"/>
                  </a:lnTo>
                  <a:lnTo>
                    <a:pt x="0" y="6315670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85340" cy="6363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15122401" y="742527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008072" y="2696502"/>
            <a:ext cx="13363248" cy="4893997"/>
          </a:xfrm>
          <a:custGeom>
            <a:avLst/>
            <a:gdLst/>
            <a:ahLst/>
            <a:cxnLst/>
            <a:rect r="r" b="b" t="t" l="l"/>
            <a:pathLst>
              <a:path h="4893997" w="13363248">
                <a:moveTo>
                  <a:pt x="0" y="0"/>
                </a:moveTo>
                <a:lnTo>
                  <a:pt x="13363248" y="0"/>
                </a:lnTo>
                <a:lnTo>
                  <a:pt x="13363248" y="4893996"/>
                </a:lnTo>
                <a:lnTo>
                  <a:pt x="0" y="4893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5866" y="864045"/>
            <a:ext cx="6162196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Lev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 of Automation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73043" y="-8105590"/>
            <a:ext cx="1633306" cy="17622955"/>
            <a:chOff x="0" y="0"/>
            <a:chExt cx="585340" cy="6315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5340" cy="6315670"/>
            </a:xfrm>
            <a:custGeom>
              <a:avLst/>
              <a:gdLst/>
              <a:ahLst/>
              <a:cxnLst/>
              <a:rect r="r" b="b" t="t" l="l"/>
              <a:pathLst>
                <a:path h="6315670" w="585340">
                  <a:moveTo>
                    <a:pt x="0" y="0"/>
                  </a:moveTo>
                  <a:lnTo>
                    <a:pt x="585340" y="0"/>
                  </a:lnTo>
                  <a:lnTo>
                    <a:pt x="585340" y="6315670"/>
                  </a:lnTo>
                  <a:lnTo>
                    <a:pt x="0" y="6315670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85340" cy="6363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15122401" y="742527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23228" y="2270890"/>
            <a:ext cx="10332936" cy="6987410"/>
          </a:xfrm>
          <a:custGeom>
            <a:avLst/>
            <a:gdLst/>
            <a:ahLst/>
            <a:cxnLst/>
            <a:rect r="r" b="b" t="t" l="l"/>
            <a:pathLst>
              <a:path h="6987410" w="10332936">
                <a:moveTo>
                  <a:pt x="0" y="0"/>
                </a:moveTo>
                <a:lnTo>
                  <a:pt x="10332936" y="0"/>
                </a:lnTo>
                <a:lnTo>
                  <a:pt x="10332936" y="6987410"/>
                </a:lnTo>
                <a:lnTo>
                  <a:pt x="0" y="6987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2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5866" y="864045"/>
            <a:ext cx="6162196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Lev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 of Automation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873043" y="-8105590"/>
            <a:ext cx="1633306" cy="17622955"/>
            <a:chOff x="0" y="0"/>
            <a:chExt cx="585340" cy="6315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5340" cy="6315670"/>
            </a:xfrm>
            <a:custGeom>
              <a:avLst/>
              <a:gdLst/>
              <a:ahLst/>
              <a:cxnLst/>
              <a:rect r="r" b="b" t="t" l="l"/>
              <a:pathLst>
                <a:path h="6315670" w="585340">
                  <a:moveTo>
                    <a:pt x="0" y="0"/>
                  </a:moveTo>
                  <a:lnTo>
                    <a:pt x="585340" y="0"/>
                  </a:lnTo>
                  <a:lnTo>
                    <a:pt x="585340" y="6315670"/>
                  </a:lnTo>
                  <a:lnTo>
                    <a:pt x="0" y="6315670"/>
                  </a:lnTo>
                  <a:close/>
                </a:path>
              </a:pathLst>
            </a:custGeom>
            <a:solidFill>
              <a:srgbClr val="EFEEEC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85340" cy="6363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45413" cy="385731"/>
            </a:xfrm>
            <a:custGeom>
              <a:avLst/>
              <a:gdLst/>
              <a:ahLst/>
              <a:cxnLst/>
              <a:rect r="r" b="b" t="t" l="l"/>
              <a:pathLst>
                <a:path h="385731" w="3845413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15122401" y="742527"/>
            <a:ext cx="948381" cy="1520727"/>
          </a:xfrm>
          <a:custGeom>
            <a:avLst/>
            <a:gdLst/>
            <a:ahLst/>
            <a:cxnLst/>
            <a:rect r="r" b="b" t="t" l="l"/>
            <a:pathLst>
              <a:path h="1520727" w="948381">
                <a:moveTo>
                  <a:pt x="0" y="0"/>
                </a:moveTo>
                <a:lnTo>
                  <a:pt x="948380" y="0"/>
                </a:lnTo>
                <a:lnTo>
                  <a:pt x="948380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29720" y="1741248"/>
            <a:ext cx="11428560" cy="6804504"/>
          </a:xfrm>
          <a:custGeom>
            <a:avLst/>
            <a:gdLst/>
            <a:ahLst/>
            <a:cxnLst/>
            <a:rect r="r" b="b" t="t" l="l"/>
            <a:pathLst>
              <a:path h="6804504" w="11428560">
                <a:moveTo>
                  <a:pt x="0" y="0"/>
                </a:moveTo>
                <a:lnTo>
                  <a:pt x="11428560" y="0"/>
                </a:lnTo>
                <a:lnTo>
                  <a:pt x="11428560" y="6804504"/>
                </a:lnTo>
                <a:lnTo>
                  <a:pt x="0" y="6804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5866" y="864045"/>
            <a:ext cx="6162196" cy="658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0"/>
              </a:lnSpc>
              <a:spcBef>
                <a:spcPct val="0"/>
              </a:spcBef>
            </a:pPr>
            <a:r>
              <a:rPr lang="en-US" sz="5600" spc="-420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Lev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5600" spc="-420" strike="noStrike" u="none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 of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DAG5pwVbmbs</dc:identifier>
  <dcterms:modified xsi:type="dcterms:W3CDTF">2011-08-01T06:04:30Z</dcterms:modified>
  <cp:revision>1</cp:revision>
  <dc:title>Introduction to MLOps</dc:title>
</cp:coreProperties>
</file>